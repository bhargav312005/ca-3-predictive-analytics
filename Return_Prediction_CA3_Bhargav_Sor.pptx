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ac8dac93-0907-6fc3-a247-68a37472a45a}">
          <p14:sldIdLst>
            <p14:sldId id="256"/>
            <p14:sldId id="257"/>
          </p14:sldIdLst>
        </p14:section>
        <p14:section name="Data" id="{b2592cd9-9b80-193d-c113-12213e152b78}">
          <p14:sldIdLst>
            <p14:sldId id="258"/>
            <p14:sldId id="259"/>
          </p14:sldIdLst>
        </p14:section>
        <p14:section name="Modelling" id="{ec68ba2e-758a-90d0-ba12-5bf08a33377f}">
          <p14:sldIdLst>
            <p14:sldId id="260"/>
          </p14:sldIdLst>
        </p14:section>
        <p14:section name="Results" id="{20cc7bcb-3164-c9bb-2aaf-22a1037d98f3}">
          <p14:sldIdLst>
            <p14:sldId id="261"/>
            <p14:sldId id="262"/>
          </p14:sldIdLst>
        </p14:section>
        <p14:section name="Wrap-up" id="{8f77588a-20ec-bd7e-297a-9e9e4485cbed}">
          <p14:sldIdLst>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2328"/>
                </a:solidFill>
                <a:latin typeface="+mn-lt"/>
              </a:defRPr>
            </a:pPr>
            <a:r>
              <a:rPr sz="1300" b="0" i="0" u="none" strike="noStrike">
                <a:solidFill>
                  <a:srgbClr val="1F2328"/>
                </a:solidFill>
                <a:latin typeface="+mn-lt"/>
              </a:rPr>
              <a:t>ROC-AUC on held-out data (axis starts at 0.5 = random guessing)</a:t>
            </a:r>
          </a:p>
        </c:rich>
      </c:tx>
      <c:layout/>
      <c:overlay val="0"/>
    </c:title>
    <c:autoTitleDeleted val="0"/>
    <c:plotArea>
      <c:layout/>
      <c:barChart>
        <c:barDir val="bar"/>
        <c:grouping val="clustered"/>
        <c:varyColors val="0"/>
        <c:ser>
          <c:idx val="0"/>
          <c:order val="0"/>
          <c:tx>
            <c:strRef>
              <c:f>Sheet1!$B$1</c:f>
              <c:strCache>
                <c:ptCount val="1"/>
                <c:pt idx="0">
                  <c:v>ROC-AUC</c:v>
                </c:pt>
              </c:strCache>
            </c:strRef>
          </c:tx>
          <c:spPr>
            <a:solidFill>
              <a:srgbClr val="B8C2CC"/>
            </a:solidFill>
            <a:effectLst/>
          </c:spPr>
          <c:invertIfNegative val="0"/>
          <c:dLbls>
            <c:numFmt formatCode="0.000" sourceLinked="0"/>
            <c:txPr>
              <a:bodyPr/>
              <a:lstStyle/>
              <a:p>
                <a:pPr>
                  <a:defRPr b="0" i="0" strike="noStrike" sz="1200" u="none">
                    <a:solidFill>
                      <a:srgbClr val="1F2328"/>
                    </a:solidFill>
                    <a:latin typeface="+mn-lt"/>
                  </a:defRPr>
                </a:pPr>
              </a:p>
            </c:txPr>
            <c:showLegendKey val="0"/>
            <c:showVal val="1"/>
            <c:showCatName val="0"/>
            <c:showSerName val="0"/>
            <c:showPercent val="0"/>
            <c:showBubbleSize val="0"/>
            <c:showLeaderLines val="0"/>
          </c:dLbls>
          <c:dPt>
            <c:idx val="0"/>
            <c:invertIfNegative val="0"/>
            <c:bubble3D val="0"/>
            <c:spPr>
              <a:solidFill>
                <a:srgbClr val="B8C2CC"/>
              </a:solidFill>
              <a:effectLst/>
            </c:spPr>
          </c:dPt>
          <c:dPt>
            <c:idx val="1"/>
            <c:invertIfNegative val="0"/>
            <c:bubble3D val="0"/>
            <c:spPr>
              <a:solidFill>
                <a:srgbClr val="B8C2CC"/>
              </a:solidFill>
              <a:effectLst/>
            </c:spPr>
          </c:dPt>
          <c:dPt>
            <c:idx val="2"/>
            <c:invertIfNegative val="0"/>
            <c:bubble3D val="0"/>
            <c:spPr>
              <a:solidFill>
                <a:srgbClr val="B8C2CC"/>
              </a:solidFill>
              <a:effectLst/>
            </c:spPr>
          </c:dPt>
          <c:dPt>
            <c:idx val="3"/>
            <c:invertIfNegative val="0"/>
            <c:bubble3D val="0"/>
            <c:spPr>
              <a:solidFill>
                <a:srgbClr val="B8C2CC"/>
              </a:solidFill>
              <a:effectLst/>
            </c:spPr>
          </c:dPt>
          <c:dPt>
            <c:idx val="4"/>
            <c:invertIfNegative val="0"/>
            <c:bubble3D val="0"/>
            <c:spPr>
              <a:solidFill>
                <a:srgbClr val="0F766E"/>
              </a:solidFill>
              <a:effectLst/>
            </c:spPr>
          </c:dPt>
          <c:cat>
            <c:multiLvlStrRef>
              <c:f>Sheet1!$A$2:$A$6</c:f>
              <c:multiLvlStrCache>
                <c:ptCount val="5"/>
                <c:lvl>
                  <c:pt idx="0">
                    <c:v>Logistic Reg.</c:v>
                  </c:pt>
                  <c:pt idx="1">
                    <c:v>Decision Tree</c:v>
                  </c:pt>
                  <c:pt idx="2">
                    <c:v>Random Forest</c:v>
                  </c:pt>
                  <c:pt idx="3">
                    <c:v>HistGradBoost</c:v>
                  </c:pt>
                  <c:pt idx="4">
                    <c:v>XGBoost</c:v>
                  </c:pt>
                </c:lvl>
              </c:multiLvlStrCache>
            </c:multiLvlStrRef>
          </c:cat>
          <c:val>
            <c:numRef>
              <c:f>Sheet1!$B$2:$B$6</c:f>
              <c:numCache>
                <c:formatCode>General</c:formatCode>
                <c:ptCount val="5"/>
                <c:pt idx="0">
                  <c:v>0.591</c:v>
                </c:pt>
                <c:pt idx="1">
                  <c:v>0.576</c:v>
                </c:pt>
                <c:pt idx="2">
                  <c:v>0.593</c:v>
                </c:pt>
                <c:pt idx="3">
                  <c:v>0.594</c:v>
                </c:pt>
                <c:pt idx="4">
                  <c:v>0.596</c:v>
                </c:pt>
              </c:numCache>
            </c:numRef>
          </c:val>
        </c:ser>
        <c:dLbls>
          <c:numFmt formatCode="0.000" sourceLinked="0"/>
          <c:txPr>
            <a:bodyPr/>
            <a:lstStyle/>
            <a:p>
              <a:pPr>
                <a:defRPr b="0" i="0" strike="noStrike" sz="1200" u="none">
                  <a:solidFill>
                    <a:srgbClr val="1F2328"/>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B6470"/>
                </a:solidFill>
                <a:latin typeface="+mn-lt"/>
              </a:defRPr>
            </a:pPr>
            <a:endParaRPr lang="en-US"/>
          </a:p>
        </c:txPr>
        <c:crossAx val="2094734552"/>
        <c:crosses val="autoZero"/>
        <c:auto val="1"/>
        <c:lblAlgn val="ctr"/>
        <c:noMultiLvlLbl val="1"/>
      </c:catAx>
      <c:valAx>
        <c:axId val="2094734552"/>
        <c:scaling>
          <c:orientation val="minMax"/>
          <c:max val="0.62"/>
          <c:min val="0.5"/>
        </c:scaling>
        <c:delete val="0"/>
        <c:axPos val="b"/>
        <c:majorGridlines>
          <c:spPr>
            <a:ln w="9525" cap="flat">
              <a:solidFill>
                <a:srgbClr val="E5E7EB"/>
              </a:solidFill>
              <a:prstDash val="solid"/>
              <a:round/>
            </a:ln>
          </c:spPr>
        </c:majorGridlines>
        <c:numFmt formatCode="0.00" sourceLinked="0"/>
        <c:majorTickMark val="out"/>
        <c:minorTickMark val="none"/>
        <c:tickLblPos val="low"/>
        <c:spPr>
          <a:ln w="12700" cap="flat">
            <a:solidFill>
              <a:srgbClr val="888888"/>
            </a:solidFill>
            <a:prstDash val="solid"/>
            <a:round/>
          </a:ln>
        </c:spPr>
        <c:txPr>
          <a:bodyPr/>
          <a:lstStyle/>
          <a:p>
            <a:pPr>
              <a:defRPr sz="1100" b="0" i="0" u="none" strike="noStrike">
                <a:solidFill>
                  <a:srgbClr val="5B6470"/>
                </a:solidFill>
                <a:latin typeface="+mn-lt"/>
              </a:defRPr>
            </a:pPr>
            <a:endParaRPr lang="en-US"/>
          </a:p>
        </c:txPr>
        <c:crossAx val="2094734554"/>
        <c:crosses val="autoZero"/>
        <c:crossBetween val="between"/>
        <c:majorUnit val="0.02"/>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2328"/>
                </a:solidFill>
                <a:latin typeface="+mn-lt"/>
              </a:defRPr>
            </a:pPr>
            <a:r>
              <a:rPr sz="1300" b="0" i="0" u="none" strike="noStrike">
                <a:solidFill>
                  <a:srgbClr val="1F2328"/>
                </a:solidFill>
                <a:latin typeface="+mn-lt"/>
              </a:rPr>
              <a:t>Actual return rate</a:t>
            </a:r>
          </a:p>
        </c:rich>
      </c:tx>
      <c:layout/>
      <c:overlay val="0"/>
    </c:title>
    <c:autoTitleDeleted val="0"/>
    <c:plotArea>
      <c:layout/>
      <c:barChart>
        <c:barDir val="col"/>
        <c:grouping val="clustered"/>
        <c:varyColors val="0"/>
        <c:ser>
          <c:idx val="0"/>
          <c:order val="0"/>
          <c:tx>
            <c:strRef>
              <c:f>Sheet1!$B$1</c:f>
              <c:strCache>
                <c:ptCount val="1"/>
                <c:pt idx="0">
                  <c:v>Return rate</c:v>
                </c:pt>
              </c:strCache>
            </c:strRef>
          </c:tx>
          <c:spPr>
            <a:solidFill>
              <a:srgbClr val="B8C2CC"/>
            </a:solidFill>
            <a:effectLst/>
          </c:spPr>
          <c:invertIfNegative val="0"/>
          <c:dLbls>
            <c:numFmt formatCode="0.00&quot;%&quot;" sourceLinked="0"/>
            <c:txPr>
              <a:bodyPr/>
              <a:lstStyle/>
              <a:p>
                <a:pPr>
                  <a:defRPr b="0" i="0" strike="noStrike" sz="1400" u="none">
                    <a:solidFill>
                      <a:srgbClr val="1F2328"/>
                    </a:solidFill>
                    <a:latin typeface="+mn-lt"/>
                  </a:defRPr>
                </a:pPr>
              </a:p>
            </c:txPr>
            <c:showLegendKey val="0"/>
            <c:showVal val="1"/>
            <c:showCatName val="0"/>
            <c:showSerName val="0"/>
            <c:showPercent val="0"/>
            <c:showBubbleSize val="0"/>
            <c:showLeaderLines val="0"/>
          </c:dLbls>
          <c:dPt>
            <c:idx val="0"/>
            <c:invertIfNegative val="0"/>
            <c:bubble3D val="0"/>
            <c:spPr>
              <a:solidFill>
                <a:srgbClr val="B8C2CC"/>
              </a:solidFill>
              <a:effectLst/>
            </c:spPr>
          </c:dPt>
          <c:dPt>
            <c:idx val="1"/>
            <c:invertIfNegative val="0"/>
            <c:bubble3D val="0"/>
            <c:spPr>
              <a:solidFill>
                <a:srgbClr val="0F766E"/>
              </a:solidFill>
              <a:effectLst/>
            </c:spPr>
          </c:dPt>
          <c:cat>
            <c:multiLvlStrRef>
              <c:f>Sheet1!$A$2:$A$3</c:f>
              <c:multiLvlStrCache>
                <c:ptCount val="2"/>
                <c:lvl>
                  <c:pt idx="0">
                    <c:v>All orders</c:v>
                  </c:pt>
                  <c:pt idx="1">
                    <c:v>Highest-risk 10%</c:v>
                  </c:pt>
                </c:lvl>
              </c:multiLvlStrCache>
            </c:multiLvlStrRef>
          </c:cat>
          <c:val>
            <c:numRef>
              <c:f>Sheet1!$B$2:$B$3</c:f>
              <c:numCache>
                <c:formatCode>General</c:formatCode>
                <c:ptCount val="2"/>
                <c:pt idx="0">
                  <c:v>47.46</c:v>
                </c:pt>
                <c:pt idx="1">
                  <c:v>63.05</c:v>
                </c:pt>
              </c:numCache>
            </c:numRef>
          </c:val>
        </c:ser>
        <c:dLbls>
          <c:numFmt formatCode="0.00&quot;%&quot;" sourceLinked="0"/>
          <c:txPr>
            <a:bodyPr/>
            <a:lstStyle/>
            <a:p>
              <a:pPr>
                <a:defRPr b="0" i="0" strike="noStrike" sz="1400" u="none">
                  <a:solidFill>
                    <a:srgbClr val="1F2328"/>
                  </a:solidFill>
                  <a:latin typeface="+mn-lt"/>
                </a:defRPr>
              </a:pPr>
            </a:p>
          </c:txPr>
          <c:showLegendKey val="0"/>
          <c:showVal val="1"/>
          <c:showCatName val="0"/>
          <c:showSerName val="0"/>
          <c:showPercent val="0"/>
          <c:showBubbleSize val="0"/>
          <c:showLeaderLines val="0"/>
        </c:dLbls>
        <c:gapWidth val="8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5B6470"/>
                </a:solidFill>
                <a:latin typeface="+mn-lt"/>
              </a:defRPr>
            </a:pPr>
            <a:endParaRPr lang="en-US"/>
          </a:p>
        </c:txPr>
        <c:crossAx val="2094734552"/>
        <c:crosses val="autoZero"/>
        <c:auto val="1"/>
        <c:lblAlgn val="ctr"/>
        <c:noMultiLvlLbl val="1"/>
      </c:catAx>
      <c:valAx>
        <c:axId val="2094734552"/>
        <c:scaling>
          <c:orientation val="minMax"/>
          <c:max val="80"/>
          <c:min val="0"/>
        </c:scaling>
        <c:delete val="0"/>
        <c:axPos val="l"/>
        <c:majorGridlines>
          <c:spPr>
            <a:ln w="9525" cap="flat">
              <a:solidFill>
                <a:srgbClr val="E5E7EB"/>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470"/>
                </a:solidFill>
                <a:latin typeface="+mn-lt"/>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CA3 project is E-Commerce Product Return Prediction using machine learning. I built an end-to-end pipeline that predicts whether an online order will be returned, compared five models, and checked honestly how useful the predictions are. I will go through the problem, the data, the method, the results, and the limitations.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Returns are expensive for online retailers: the item travels back, has to be inspected and restocked, and the refund reduces profit. If we can estimate the chance of a return early, the company can act before that cost happens. So my objective was to predict whether an order will be returned, using information about the customer, the product, past purchases, browsing and delivery. I also wanted to find which factors are linked to returns, and to judge honestly how useful the model really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comes from the Kaggle E-Commerce Dataset by hakdevelopment. It has 200,000 labelled orders for training and 50,000 test orders. The test file has no answers, so I evaluated the models on a part of the training data that I held back. The target column is 'returned': 1 if the order was returned, 0 if not. About 47 percent of orders were returned, so the two classes are almost balanced. The features fall into five groups: customer, product, browsing, order and payment, and delivery. Note that delivery delay is only known after delivery, which matters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I checked the data quality. There were no missing values and no duplicates, but about a third of the rows had values that cannot be real, like a negative price or a negative number of product views. I treated these as missing, filled them with the median, and added a flag so the model still knows the value was invalid. I removed the order ID because it is just an identifier, one-hot encoded the four categorical columns, and created a few new features such as the final price after discount. Every step is fitted only on the training data so no information leaks from the evaluation data. The exploratory analysis already showed that each feature is only weakly linked to returns.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followed the KDD process in seven steps, from defining the problem to interpreting the results. I compared five models. Logistic Regression is the simple baseline that is easy to explain. Decision Tree, Random Forest, HistGradientBoosting and XGBoost can capture more complex patterns. To keep the comparison fair, every model used the same 80-20 stratified split, was tuned, and was checked with 5-fold cross-validation. XGBoost, highlighted, came out best.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XGBoost was the best of the five models, but all of them are close, between about 0.58 and 0.60 ROC-AUC. On the held-out data XGBoost reached 57.16% accuracy. Precision of 56.24% means that when it flags an order as a return, it is right a little over half the time. Recall of 43.86% means it catches less than half of the real returns. F1 of 0.493 balances those two. ROC-AUC of 0.596 means the model ranks risky orders above safe ones better than random, which is 0.5, but well below perfect. For context, always guessing 'not returned' already gives about 52.5 percent accuracy. One important detail: the main model uses delivery delay, which is only known after delivery. A version that uses only checkout information scores almost the same, about 0.593, so the model could be used earlier without losing much.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practical result is ranking. Overall, 47.46 percent of orders are returned. But if we take the 10 percent of orders that the model rates as most risky, 63.05 percent of them were actually returned. That is about 1.33 times the normal rate. So the model cannot tell us for sure whether one specific order will come back, but it can point a retailer to the group of orders where returns are much more likely, for example to add a confirmation step or better product information. The factors that mattered most were shipping method, product category, device type, coupon use, payment method and purchase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clear about the limits. The performance is moderate: ROC-AUC around 0.6 and recall below 50 percent. The main reason is the data: the available features are only weakly related to returns, and about a third of rows had impossible values, which suggests the dataset may be synthetic. Also, the main model uses delivery delay, which is only known after delivery. Important information such as the reason for a return, size or fit problems, timestamps or customer IDs is not available. To improve, I would collect richer data like return reasons and reviews, test on real retailer data over time, set the threshold based on the actual cost of a return, and do more feature engineering and tuning.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I built a complete pipeline, from cleaning the data to comparing five models and evaluating them honestly. The main learning is that this data has limited but real signal. XGBoost was best, but only slightly better than the simpler models. The practical value is in ranking: the riskiest 10 percent of orders are returned much more often than average. So machine learning here is best used to prioritise which orders to check, not as a perfect return detector.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sources: the Kaggle dataset, scikit-learn and XGBoost, which I used to build the models, the SHAP paper behind the feature explanations, and the original KDD paper by Fayyad and colleagues that defines the process I followed. Thank you,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554480"/>
          </a:xfrm>
          <a:prstGeom prst="rect">
            <a:avLst/>
          </a:prstGeom>
          <a:noFill/>
          <a:ln/>
        </p:spPr>
        <p:txBody>
          <a:bodyPr wrap="square" rtlCol="0"/>
          <a:lstStyle>
            <a:lvl1pPr algn="l" indent="0" marL="0">
              <a:buNone/>
              <a:defRPr lang="en-US" sz="4000" b="1" dirty="0">
                <a:solidFill>
                  <a:schemeClr val="tx1"/>
                </a:solidFill>
              </a:defRPr>
            </a:lvl1pPr>
          </a:lstStyle>
          <a:p>
            <a:pPr algn="l" indent="0" marL="0">
              <a:buNone/>
            </a:pPr>
            <a:endParaRPr lang="en-US" sz="4000" dirty="0"/>
          </a:p>
        </p:txBody>
      </p:sp>
      <p:sp>
        <p:nvSpPr>
          <p:cNvPr id="3" name="Text 0"/>
          <p:cNvSpPr/>
          <p:nvPr>
            <p:ph idx="101" type="body" hasCustomPrompt="1"/>
          </p:nvPr>
        </p:nvSpPr>
        <p:spPr>
          <a:xfrm>
            <a:off x="731520" y="3566160"/>
            <a:ext cx="10698480" cy="640080"/>
          </a:xfrm>
          <a:prstGeom prst="rect">
            <a:avLst/>
          </a:prstGeom>
          <a:noFill/>
          <a:ln/>
        </p:spPr>
        <p:txBody>
          <a:bodyPr wrap="square" rtlCol="0"/>
          <a:lstStyle>
            <a:lvl1pPr algn="l" indent="0" marL="0">
              <a:buNone/>
              <a:defRPr lang="en-US" sz="2000" dirty="0">
                <a:solidFill>
                  <a:schemeClr val="accent1"/>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tx2"/>
                </a:solidFill>
              </a:rPr>
              <a:t>Bhargav Sor  ·  Predictive Analytics CA3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554480"/>
          </a:xfrm>
          <a:prstGeom prst="rect">
            <a:avLst/>
          </a:prstGeom>
          <a:noFill/>
          <a:ln/>
        </p:spPr>
        <p:txBody>
          <a:bodyPr wrap="square" rtlCol="0" anchor="b"/>
          <a:lstStyle/>
          <a:p>
            <a:pPr algn="l" indent="0" marL="0">
              <a:buNone/>
            </a:pPr>
            <a:r>
              <a:rPr lang="en-US" sz="4000" b="1" dirty="0">
                <a:solidFill>
                  <a:schemeClr val="tx1"/>
                </a:solidFill>
              </a:rPr>
              <a:t>E-Commerce Product Return Prediction Using Machine Learning</a:t>
            </a:r>
            <a:endParaRPr lang="en-US" sz="4000" dirty="0"/>
          </a:p>
        </p:txBody>
      </p:sp>
      <p:sp>
        <p:nvSpPr>
          <p:cNvPr id="3" name="Text 0"/>
          <p:cNvSpPr/>
          <p:nvPr>
            <p:ph idx="101" type="body" hasCustomPrompt="1"/>
          </p:nvPr>
        </p:nvSpPr>
        <p:spPr>
          <a:xfrm>
            <a:off x="731520" y="3566160"/>
            <a:ext cx="10698480" cy="640080"/>
          </a:xfrm>
          <a:prstGeom prst="rect">
            <a:avLst/>
          </a:prstGeom>
          <a:noFill/>
          <a:ln/>
        </p:spPr>
        <p:txBody>
          <a:bodyPr wrap="square" rtlCol="0" anchor="t"/>
          <a:lstStyle/>
          <a:p>
            <a:pPr algn="l" indent="0" marL="0">
              <a:buNone/>
            </a:pPr>
            <a:r>
              <a:rPr lang="en-US" sz="2000" dirty="0">
                <a:solidFill>
                  <a:schemeClr val="accent1"/>
                </a:solidFill>
              </a:rPr>
              <a:t>Predictive Analytics — CA3 Project</a:t>
            </a:r>
            <a:endParaRPr lang="en-US" sz="2000" dirty="0"/>
          </a:p>
        </p:txBody>
      </p:sp>
      <p:sp>
        <p:nvSpPr>
          <p:cNvPr id="4" name="Text 2"/>
          <p:cNvSpPr txBox="1"/>
          <p:nvPr/>
        </p:nvSpPr>
        <p:spPr>
          <a:xfrm>
            <a:off x="731520" y="4663440"/>
            <a:ext cx="7315200" cy="1097280"/>
          </a:xfrm>
          <a:prstGeom prst="rect">
            <a:avLst/>
          </a:prstGeom>
          <a:noFill/>
          <a:ln/>
        </p:spPr>
        <p:txBody>
          <a:bodyPr wrap="square" lIns="0" tIns="0" rIns="0" bIns="0" rtlCol="0" anchor="ctr"/>
          <a:lstStyle/>
          <a:p>
            <a:pPr indent="0" marL="0">
              <a:spcAft>
                <a:spcPts val="400"/>
              </a:spcAft>
              <a:buNone/>
            </a:pPr>
            <a:r>
              <a:rPr lang="en-US" sz="1600" b="1" dirty="0">
                <a:solidFill>
                  <a:schemeClr val="tx1"/>
                </a:solidFill>
              </a:rPr>
              <a:t>Bhargav Sor</a:t>
            </a:r>
            <a:endParaRPr lang="en-US" sz="1600" dirty="0"/>
          </a:p>
          <a:p>
            <a:pPr indent="0" marL="0">
              <a:spcAft>
                <a:spcPts val="400"/>
              </a:spcAft>
              <a:buNone/>
            </a:pPr>
            <a:r>
              <a:rPr lang="en-US" sz="1600" dirty="0">
                <a:solidFill>
                  <a:schemeClr val="tx1"/>
                </a:solidFill>
              </a:rPr>
              <a:t>B.Tech CSE, Semester VII, Section A</a:t>
            </a:r>
            <a:endParaRPr lang="en-US" sz="1600" dirty="0"/>
          </a:p>
          <a:p>
            <a:pPr indent="0" marL="0">
              <a:spcAft>
                <a:spcPts val="400"/>
              </a:spcAft>
              <a:buNone/>
            </a:pPr>
            <a:r>
              <a:rPr lang="en-US" sz="1600" dirty="0">
                <a:solidFill>
                  <a:schemeClr val="tx1"/>
                </a:solidFill>
              </a:rPr>
              <a:t>Symbiosis Institute of Technology, Nagpur</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Problem Statement and Objectives</a:t>
            </a:r>
            <a:endParaRPr lang="en-US" sz="3200" dirty="0"/>
          </a:p>
        </p:txBody>
      </p:sp>
      <p:sp>
        <p:nvSpPr>
          <p:cNvPr id="3" name="Why it matters card"/>
          <p:cNvSpPr/>
          <p:nvPr/>
        </p:nvSpPr>
        <p:spPr>
          <a:xfrm>
            <a:off x="548640" y="1371600"/>
            <a:ext cx="5349240" cy="3931920"/>
          </a:xfrm>
          <a:prstGeom prst="roundRect">
            <a:avLst>
              <a:gd name="adj" fmla="val 1860"/>
            </a:avLst>
          </a:prstGeom>
          <a:solidFill>
            <a:schemeClr val="bg2"/>
          </a:solidFill>
          <a:ln w="12700">
            <a:solidFill>
              <a:schemeClr val="bg2"/>
            </a:solidFill>
            <a:prstDash val="solid"/>
          </a:ln>
        </p:spPr>
      </p:sp>
      <p:sp>
        <p:nvSpPr>
          <p:cNvPr id="4" name="Text 2"/>
          <p:cNvSpPr txBox="1"/>
          <p:nvPr/>
        </p:nvSpPr>
        <p:spPr>
          <a:xfrm>
            <a:off x="822960" y="1600200"/>
            <a:ext cx="4846320" cy="41148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Why product returns matter</a:t>
            </a:r>
            <a:endParaRPr lang="en-US" sz="1800" dirty="0"/>
          </a:p>
        </p:txBody>
      </p:sp>
      <p:sp>
        <p:nvSpPr>
          <p:cNvPr id="5" name="Text 3"/>
          <p:cNvSpPr txBox="1"/>
          <p:nvPr/>
        </p:nvSpPr>
        <p:spPr>
          <a:xfrm>
            <a:off x="822960" y="2148840"/>
            <a:ext cx="4846320" cy="301752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chemeClr val="tx1"/>
                </a:solidFill>
              </a:rPr>
              <a:t>Every return adds reverse-logistics, inspection and restocking costs</a:t>
            </a:r>
            <a:endParaRPr lang="en-US" sz="1800" dirty="0"/>
          </a:p>
          <a:p>
            <a:pPr marL="228600" indent="-228600">
              <a:spcAft>
                <a:spcPts val="800"/>
              </a:spcAft>
              <a:buSzPct val="100000"/>
              <a:buChar char="•"/>
            </a:pPr>
            <a:r>
              <a:rPr lang="en-US" sz="1800" dirty="0">
                <a:solidFill>
                  <a:schemeClr val="tx1"/>
                </a:solidFill>
              </a:rPr>
              <a:t>Refunds and lost shipping costs reduce profit</a:t>
            </a:r>
            <a:endParaRPr lang="en-US" sz="1800" dirty="0"/>
          </a:p>
          <a:p>
            <a:pPr marL="228600" indent="-228600">
              <a:spcAft>
                <a:spcPts val="800"/>
              </a:spcAft>
              <a:buSzPct val="100000"/>
              <a:buChar char="•"/>
            </a:pPr>
            <a:r>
              <a:rPr lang="en-US" sz="1800" dirty="0">
                <a:solidFill>
                  <a:schemeClr val="tx1"/>
                </a:solidFill>
              </a:rPr>
              <a:t>Returned items may not be resold at full price</a:t>
            </a:r>
            <a:endParaRPr lang="en-US" sz="1800" dirty="0"/>
          </a:p>
          <a:p>
            <a:pPr marL="228600" indent="-228600">
              <a:spcAft>
                <a:spcPts val="800"/>
              </a:spcAft>
              <a:buSzPct val="100000"/>
              <a:buChar char="•"/>
            </a:pPr>
            <a:r>
              <a:rPr lang="en-US" sz="1800" dirty="0">
                <a:solidFill>
                  <a:schemeClr val="tx1"/>
                </a:solidFill>
              </a:rPr>
              <a:t>Knowing return risk early lets a retailer act before the cost occurs</a:t>
            </a:r>
            <a:endParaRPr lang="en-US" sz="1800" dirty="0"/>
          </a:p>
        </p:txBody>
      </p:sp>
      <p:sp>
        <p:nvSpPr>
          <p:cNvPr id="6" name="Objectives card"/>
          <p:cNvSpPr/>
          <p:nvPr/>
        </p:nvSpPr>
        <p:spPr>
          <a:xfrm>
            <a:off x="6263640" y="1371600"/>
            <a:ext cx="5349240" cy="3931920"/>
          </a:xfrm>
          <a:prstGeom prst="roundRect">
            <a:avLst>
              <a:gd name="adj" fmla="val 1860"/>
            </a:avLst>
          </a:prstGeom>
          <a:solidFill>
            <a:schemeClr val="bg2"/>
          </a:solidFill>
          <a:ln w="12700">
            <a:solidFill>
              <a:schemeClr val="bg2"/>
            </a:solidFill>
            <a:prstDash val="solid"/>
          </a:ln>
        </p:spPr>
      </p:sp>
      <p:sp>
        <p:nvSpPr>
          <p:cNvPr id="7" name="Text 5"/>
          <p:cNvSpPr txBox="1"/>
          <p:nvPr/>
        </p:nvSpPr>
        <p:spPr>
          <a:xfrm>
            <a:off x="6537960" y="1600200"/>
            <a:ext cx="4846320" cy="41148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Project objectives</a:t>
            </a:r>
            <a:endParaRPr lang="en-US" sz="1800" dirty="0"/>
          </a:p>
        </p:txBody>
      </p:sp>
      <p:sp>
        <p:nvSpPr>
          <p:cNvPr id="8" name="Text 6"/>
          <p:cNvSpPr txBox="1"/>
          <p:nvPr/>
        </p:nvSpPr>
        <p:spPr>
          <a:xfrm>
            <a:off x="6537960" y="2148840"/>
            <a:ext cx="4846320" cy="301752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chemeClr val="tx1"/>
                </a:solidFill>
              </a:rPr>
              <a:t>Predict whether an order will be returned (Yes / No)</a:t>
            </a:r>
            <a:endParaRPr lang="en-US" sz="1800" dirty="0"/>
          </a:p>
          <a:p>
            <a:pPr marL="228600" indent="-228600">
              <a:spcAft>
                <a:spcPts val="800"/>
              </a:spcAft>
              <a:buSzPct val="100000"/>
              <a:buChar char="•"/>
            </a:pPr>
            <a:r>
              <a:rPr lang="en-US" sz="1800" dirty="0">
                <a:solidFill>
                  <a:schemeClr val="tx1"/>
                </a:solidFill>
              </a:rPr>
              <a:t>Use customer, product, purchase-history, browsing and delivery information</a:t>
            </a:r>
            <a:endParaRPr lang="en-US" sz="1800" dirty="0"/>
          </a:p>
          <a:p>
            <a:pPr marL="228600" indent="-228600">
              <a:spcAft>
                <a:spcPts val="800"/>
              </a:spcAft>
              <a:buSzPct val="100000"/>
              <a:buChar char="•"/>
            </a:pPr>
            <a:r>
              <a:rPr lang="en-US" sz="1800" dirty="0">
                <a:solidFill>
                  <a:schemeClr val="tx1"/>
                </a:solidFill>
              </a:rPr>
              <a:t>Identify which factors are associated with returns</a:t>
            </a:r>
            <a:endParaRPr lang="en-US" sz="1800" dirty="0"/>
          </a:p>
          <a:p>
            <a:pPr marL="228600" indent="-228600">
              <a:spcAft>
                <a:spcPts val="800"/>
              </a:spcAft>
              <a:buSzPct val="100000"/>
              <a:buChar char="•"/>
            </a:pPr>
            <a:r>
              <a:rPr lang="en-US" sz="1800" dirty="0">
                <a:solidFill>
                  <a:schemeClr val="tx1"/>
                </a:solidFill>
              </a:rPr>
              <a:t>Evaluate honestly how useful machine learning is for predicting return risk</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Dataset and Features</a:t>
            </a:r>
            <a:endParaRPr lang="en-US" sz="3200" dirty="0"/>
          </a:p>
        </p:txBody>
      </p:sp>
      <p:sp>
        <p:nvSpPr>
          <p:cNvPr id="3" name="Stat train"/>
          <p:cNvSpPr/>
          <p:nvPr/>
        </p:nvSpPr>
        <p:spPr>
          <a:xfrm>
            <a:off x="548640" y="1325880"/>
            <a:ext cx="3520440" cy="1325880"/>
          </a:xfrm>
          <a:prstGeom prst="roundRect">
            <a:avLst>
              <a:gd name="adj" fmla="val 5517"/>
            </a:avLst>
          </a:prstGeom>
          <a:solidFill>
            <a:schemeClr val="bg2"/>
          </a:solidFill>
          <a:ln w="12700">
            <a:solidFill>
              <a:schemeClr val="bg2"/>
            </a:solidFill>
            <a:prstDash val="solid"/>
          </a:ln>
        </p:spPr>
      </p:sp>
      <p:sp>
        <p:nvSpPr>
          <p:cNvPr id="4" name="Text 2"/>
          <p:cNvSpPr txBox="1"/>
          <p:nvPr/>
        </p:nvSpPr>
        <p:spPr>
          <a:xfrm>
            <a:off x="777240" y="1463040"/>
            <a:ext cx="306324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200,000</a:t>
            </a:r>
            <a:endParaRPr lang="en-US" sz="3600" dirty="0"/>
          </a:p>
        </p:txBody>
      </p:sp>
      <p:sp>
        <p:nvSpPr>
          <p:cNvPr id="5" name="Text 3"/>
          <p:cNvSpPr txBox="1"/>
          <p:nvPr/>
        </p:nvSpPr>
        <p:spPr>
          <a:xfrm>
            <a:off x="777240" y="2148840"/>
            <a:ext cx="3063240" cy="365760"/>
          </a:xfrm>
          <a:prstGeom prst="rect">
            <a:avLst/>
          </a:prstGeom>
          <a:noFill/>
          <a:ln/>
        </p:spPr>
        <p:txBody>
          <a:bodyPr wrap="square" lIns="0" tIns="0" rIns="0" bIns="0" rtlCol="0" anchor="ctr"/>
          <a:lstStyle/>
          <a:p>
            <a:pPr indent="0" marL="0">
              <a:buNone/>
            </a:pPr>
            <a:r>
              <a:rPr lang="en-US" sz="1400" dirty="0">
                <a:solidFill>
                  <a:schemeClr val="tx2"/>
                </a:solidFill>
              </a:rPr>
              <a:t>labelled training orders</a:t>
            </a:r>
            <a:endParaRPr lang="en-US" sz="1400" dirty="0"/>
          </a:p>
        </p:txBody>
      </p:sp>
      <p:sp>
        <p:nvSpPr>
          <p:cNvPr id="6" name="Stat test"/>
          <p:cNvSpPr/>
          <p:nvPr/>
        </p:nvSpPr>
        <p:spPr>
          <a:xfrm>
            <a:off x="4320540" y="1325880"/>
            <a:ext cx="3520440" cy="1325880"/>
          </a:xfrm>
          <a:prstGeom prst="roundRect">
            <a:avLst>
              <a:gd name="adj" fmla="val 5517"/>
            </a:avLst>
          </a:prstGeom>
          <a:solidFill>
            <a:schemeClr val="bg2"/>
          </a:solidFill>
          <a:ln w="12700">
            <a:solidFill>
              <a:schemeClr val="bg2"/>
            </a:solidFill>
            <a:prstDash val="solid"/>
          </a:ln>
        </p:spPr>
      </p:sp>
      <p:sp>
        <p:nvSpPr>
          <p:cNvPr id="7" name="Text 5"/>
          <p:cNvSpPr txBox="1"/>
          <p:nvPr/>
        </p:nvSpPr>
        <p:spPr>
          <a:xfrm>
            <a:off x="4549140" y="1463040"/>
            <a:ext cx="306324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50,000</a:t>
            </a:r>
            <a:endParaRPr lang="en-US" sz="3600" dirty="0"/>
          </a:p>
        </p:txBody>
      </p:sp>
      <p:sp>
        <p:nvSpPr>
          <p:cNvPr id="8" name="Text 6"/>
          <p:cNvSpPr txBox="1"/>
          <p:nvPr/>
        </p:nvSpPr>
        <p:spPr>
          <a:xfrm>
            <a:off x="4549140" y="2148840"/>
            <a:ext cx="3063240" cy="365760"/>
          </a:xfrm>
          <a:prstGeom prst="rect">
            <a:avLst/>
          </a:prstGeom>
          <a:noFill/>
          <a:ln/>
        </p:spPr>
        <p:txBody>
          <a:bodyPr wrap="square" lIns="0" tIns="0" rIns="0" bIns="0" rtlCol="0" anchor="ctr"/>
          <a:lstStyle/>
          <a:p>
            <a:pPr indent="0" marL="0">
              <a:buNone/>
            </a:pPr>
            <a:r>
              <a:rPr lang="en-US" sz="1400" dirty="0">
                <a:solidFill>
                  <a:schemeClr val="tx2"/>
                </a:solidFill>
              </a:rPr>
              <a:t>test orders (no labels provided)</a:t>
            </a:r>
            <a:endParaRPr lang="en-US" sz="1400" dirty="0"/>
          </a:p>
        </p:txBody>
      </p:sp>
      <p:sp>
        <p:nvSpPr>
          <p:cNvPr id="9" name="Stat return rate"/>
          <p:cNvSpPr/>
          <p:nvPr/>
        </p:nvSpPr>
        <p:spPr>
          <a:xfrm>
            <a:off x="8092440" y="1325880"/>
            <a:ext cx="3520440" cy="1325880"/>
          </a:xfrm>
          <a:prstGeom prst="roundRect">
            <a:avLst>
              <a:gd name="adj" fmla="val 5517"/>
            </a:avLst>
          </a:prstGeom>
          <a:solidFill>
            <a:schemeClr val="bg2"/>
          </a:solidFill>
          <a:ln w="12700">
            <a:solidFill>
              <a:schemeClr val="bg2"/>
            </a:solidFill>
            <a:prstDash val="solid"/>
          </a:ln>
        </p:spPr>
      </p:sp>
      <p:sp>
        <p:nvSpPr>
          <p:cNvPr id="10" name="Text 8"/>
          <p:cNvSpPr txBox="1"/>
          <p:nvPr/>
        </p:nvSpPr>
        <p:spPr>
          <a:xfrm>
            <a:off x="8321040" y="1463040"/>
            <a:ext cx="306324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47.46%</a:t>
            </a:r>
            <a:endParaRPr lang="en-US" sz="3600" dirty="0"/>
          </a:p>
        </p:txBody>
      </p:sp>
      <p:sp>
        <p:nvSpPr>
          <p:cNvPr id="11" name="Text 9"/>
          <p:cNvSpPr txBox="1"/>
          <p:nvPr/>
        </p:nvSpPr>
        <p:spPr>
          <a:xfrm>
            <a:off x="8321040" y="2148840"/>
            <a:ext cx="3063240" cy="365760"/>
          </a:xfrm>
          <a:prstGeom prst="rect">
            <a:avLst/>
          </a:prstGeom>
          <a:noFill/>
          <a:ln/>
        </p:spPr>
        <p:txBody>
          <a:bodyPr wrap="square" lIns="0" tIns="0" rIns="0" bIns="0" rtlCol="0" anchor="ctr"/>
          <a:lstStyle/>
          <a:p>
            <a:pPr indent="0" marL="0">
              <a:buNone/>
            </a:pPr>
            <a:r>
              <a:rPr lang="en-US" sz="1400" dirty="0">
                <a:solidFill>
                  <a:schemeClr val="tx2"/>
                </a:solidFill>
              </a:rPr>
              <a:t>orders returned (overall return rate)</a:t>
            </a:r>
            <a:endParaRPr lang="en-US" sz="1400" dirty="0"/>
          </a:p>
        </p:txBody>
      </p:sp>
      <p:sp>
        <p:nvSpPr>
          <p:cNvPr id="12" name="Text 10"/>
          <p:cNvSpPr txBox="1"/>
          <p:nvPr/>
        </p:nvSpPr>
        <p:spPr>
          <a:xfrm>
            <a:off x="548640" y="2834640"/>
            <a:ext cx="11064240" cy="411480"/>
          </a:xfrm>
          <a:prstGeom prst="rect">
            <a:avLst/>
          </a:prstGeom>
          <a:noFill/>
          <a:ln/>
        </p:spPr>
        <p:txBody>
          <a:bodyPr wrap="square" lIns="0" tIns="0" rIns="0" bIns="0" rtlCol="0" anchor="ctr"/>
          <a:lstStyle/>
          <a:p>
            <a:pPr indent="0" marL="0">
              <a:buNone/>
            </a:pPr>
            <a:r>
              <a:rPr lang="en-US" sz="1500" b="1" dirty="0">
                <a:solidFill>
                  <a:schemeClr val="tx1"/>
                </a:solidFill>
              </a:rPr>
              <a:t>Source: </a:t>
            </a:r>
            <a:pPr indent="0" marL="0">
              <a:buNone/>
            </a:pPr>
            <a:r>
              <a:rPr lang="en-US" sz="1500" dirty="0">
                <a:solidFill>
                  <a:schemeClr val="tx1"/>
                </a:solidFill>
              </a:rPr>
              <a:t>Kaggle E-Commerce Dataset by hakdevelopment.   </a:t>
            </a:r>
            <a:pPr indent="0" marL="0">
              <a:buNone/>
            </a:pPr>
            <a:r>
              <a:rPr lang="en-US" sz="1500" b="1" dirty="0">
                <a:solidFill>
                  <a:schemeClr val="tx1"/>
                </a:solidFill>
              </a:rPr>
              <a:t>Target: </a:t>
            </a:r>
            <a:pPr indent="0" marL="0">
              <a:buNone/>
            </a:pPr>
            <a:r>
              <a:rPr lang="en-US" sz="1500" dirty="0">
                <a:solidFill>
                  <a:schemeClr val="tx1"/>
                </a:solidFill>
              </a:rPr>
              <a:t>returned  (0 = not returned, 1 = returned)</a:t>
            </a:r>
            <a:endParaRPr lang="en-US" sz="1500" dirty="0"/>
          </a:p>
        </p:txBody>
      </p:sp>
      <p:sp>
        <p:nvSpPr>
          <p:cNvPr id="13" name="Feature group Customer"/>
          <p:cNvSpPr/>
          <p:nvPr/>
        </p:nvSpPr>
        <p:spPr>
          <a:xfrm>
            <a:off x="548640" y="3429000"/>
            <a:ext cx="2029968" cy="2240280"/>
          </a:xfrm>
          <a:prstGeom prst="roundRect">
            <a:avLst>
              <a:gd name="adj" fmla="val 3604"/>
            </a:avLst>
          </a:prstGeom>
          <a:solidFill>
            <a:schemeClr val="bg2"/>
          </a:solidFill>
          <a:ln w="12700">
            <a:solidFill>
              <a:schemeClr val="bg2"/>
            </a:solidFill>
            <a:prstDash val="solid"/>
          </a:ln>
        </p:spPr>
      </p:sp>
      <p:sp>
        <p:nvSpPr>
          <p:cNvPr id="14" name="Text 12"/>
          <p:cNvSpPr txBox="1"/>
          <p:nvPr/>
        </p:nvSpPr>
        <p:spPr>
          <a:xfrm>
            <a:off x="731520" y="3584448"/>
            <a:ext cx="1664208" cy="365760"/>
          </a:xfrm>
          <a:prstGeom prst="rect">
            <a:avLst/>
          </a:prstGeom>
          <a:noFill/>
          <a:ln/>
        </p:spPr>
        <p:txBody>
          <a:bodyPr wrap="square" lIns="0" tIns="0" rIns="0" bIns="0" rtlCol="0" anchor="ctr"/>
          <a:lstStyle/>
          <a:p>
            <a:pPr indent="0" marL="0">
              <a:buNone/>
            </a:pPr>
            <a:r>
              <a:rPr lang="en-US" sz="1600" b="1" dirty="0">
                <a:solidFill>
                  <a:schemeClr val="accent1"/>
                </a:solidFill>
                <a:latin typeface="Cambria" pitchFamily="34" charset="0"/>
                <a:ea typeface="Cambria" pitchFamily="34" charset="-122"/>
                <a:cs typeface="Cambria" pitchFamily="34" charset="-120"/>
              </a:rPr>
              <a:t>Customer</a:t>
            </a:r>
            <a:endParaRPr lang="en-US" sz="1600" dirty="0"/>
          </a:p>
        </p:txBody>
      </p:sp>
      <p:sp>
        <p:nvSpPr>
          <p:cNvPr id="15" name="Text 13"/>
          <p:cNvSpPr txBox="1"/>
          <p:nvPr/>
        </p:nvSpPr>
        <p:spPr>
          <a:xfrm>
            <a:off x="731520" y="4023360"/>
            <a:ext cx="1664208" cy="150876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Age</a:t>
            </a:r>
            <a:endParaRPr lang="en-US" sz="1400" dirty="0"/>
          </a:p>
          <a:p>
            <a:pPr indent="0" marL="0">
              <a:spcAft>
                <a:spcPts val="400"/>
              </a:spcAft>
              <a:buNone/>
            </a:pPr>
            <a:r>
              <a:rPr lang="en-US" sz="1400" dirty="0">
                <a:solidFill>
                  <a:schemeClr val="tx1"/>
                </a:solidFill>
              </a:rPr>
              <a:t>Past purchase count</a:t>
            </a:r>
            <a:endParaRPr lang="en-US" sz="1400" dirty="0"/>
          </a:p>
          <a:p>
            <a:pPr indent="0" marL="0">
              <a:spcAft>
                <a:spcPts val="400"/>
              </a:spcAft>
              <a:buNone/>
            </a:pPr>
            <a:r>
              <a:rPr lang="en-US" sz="1400" dirty="0">
                <a:solidFill>
                  <a:schemeClr val="tx1"/>
                </a:solidFill>
              </a:rPr>
              <a:t>Past return rate</a:t>
            </a:r>
            <a:endParaRPr lang="en-US" sz="1400" dirty="0"/>
          </a:p>
        </p:txBody>
      </p:sp>
      <p:sp>
        <p:nvSpPr>
          <p:cNvPr id="16" name="Feature group Product"/>
          <p:cNvSpPr/>
          <p:nvPr/>
        </p:nvSpPr>
        <p:spPr>
          <a:xfrm>
            <a:off x="2807208" y="3429000"/>
            <a:ext cx="2029968" cy="2240280"/>
          </a:xfrm>
          <a:prstGeom prst="roundRect">
            <a:avLst>
              <a:gd name="adj" fmla="val 3604"/>
            </a:avLst>
          </a:prstGeom>
          <a:solidFill>
            <a:schemeClr val="bg2"/>
          </a:solidFill>
          <a:ln w="12700">
            <a:solidFill>
              <a:schemeClr val="bg2"/>
            </a:solidFill>
            <a:prstDash val="solid"/>
          </a:ln>
        </p:spPr>
      </p:sp>
      <p:sp>
        <p:nvSpPr>
          <p:cNvPr id="17" name="Text 15"/>
          <p:cNvSpPr txBox="1"/>
          <p:nvPr/>
        </p:nvSpPr>
        <p:spPr>
          <a:xfrm>
            <a:off x="2990088" y="3584448"/>
            <a:ext cx="1664208" cy="365760"/>
          </a:xfrm>
          <a:prstGeom prst="rect">
            <a:avLst/>
          </a:prstGeom>
          <a:noFill/>
          <a:ln/>
        </p:spPr>
        <p:txBody>
          <a:bodyPr wrap="square" lIns="0" tIns="0" rIns="0" bIns="0" rtlCol="0" anchor="ctr"/>
          <a:lstStyle/>
          <a:p>
            <a:pPr indent="0" marL="0">
              <a:buNone/>
            </a:pPr>
            <a:r>
              <a:rPr lang="en-US" sz="1600" b="1" dirty="0">
                <a:solidFill>
                  <a:schemeClr val="accent1"/>
                </a:solidFill>
                <a:latin typeface="Cambria" pitchFamily="34" charset="0"/>
                <a:ea typeface="Cambria" pitchFamily="34" charset="-122"/>
                <a:cs typeface="Cambria" pitchFamily="34" charset="-120"/>
              </a:rPr>
              <a:t>Product</a:t>
            </a:r>
            <a:endParaRPr lang="en-US" sz="1600" dirty="0"/>
          </a:p>
        </p:txBody>
      </p:sp>
      <p:sp>
        <p:nvSpPr>
          <p:cNvPr id="18" name="Text 16"/>
          <p:cNvSpPr txBox="1"/>
          <p:nvPr/>
        </p:nvSpPr>
        <p:spPr>
          <a:xfrm>
            <a:off x="2990088" y="4023360"/>
            <a:ext cx="1664208" cy="150876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Price</a:t>
            </a:r>
            <a:endParaRPr lang="en-US" sz="1400" dirty="0"/>
          </a:p>
          <a:p>
            <a:pPr indent="0" marL="0">
              <a:spcAft>
                <a:spcPts val="400"/>
              </a:spcAft>
              <a:buNone/>
            </a:pPr>
            <a:r>
              <a:rPr lang="en-US" sz="1400" dirty="0">
                <a:solidFill>
                  <a:schemeClr val="tx1"/>
                </a:solidFill>
              </a:rPr>
              <a:t>Discount %</a:t>
            </a:r>
            <a:endParaRPr lang="en-US" sz="1400" dirty="0"/>
          </a:p>
          <a:p>
            <a:pPr indent="0" marL="0">
              <a:spcAft>
                <a:spcPts val="400"/>
              </a:spcAft>
              <a:buNone/>
            </a:pPr>
            <a:r>
              <a:rPr lang="en-US" sz="1400" dirty="0">
                <a:solidFill>
                  <a:schemeClr val="tx1"/>
                </a:solidFill>
              </a:rPr>
              <a:t>Rating</a:t>
            </a:r>
            <a:endParaRPr lang="en-US" sz="1400" dirty="0"/>
          </a:p>
          <a:p>
            <a:pPr indent="0" marL="0">
              <a:spcAft>
                <a:spcPts val="400"/>
              </a:spcAft>
              <a:buNone/>
            </a:pPr>
            <a:r>
              <a:rPr lang="en-US" sz="1400" dirty="0">
                <a:solidFill>
                  <a:schemeClr val="tx1"/>
                </a:solidFill>
              </a:rPr>
              <a:t>Category</a:t>
            </a:r>
            <a:endParaRPr lang="en-US" sz="1400" dirty="0"/>
          </a:p>
        </p:txBody>
      </p:sp>
      <p:sp>
        <p:nvSpPr>
          <p:cNvPr id="19" name="Feature group Browsing"/>
          <p:cNvSpPr/>
          <p:nvPr/>
        </p:nvSpPr>
        <p:spPr>
          <a:xfrm>
            <a:off x="5065776" y="3429000"/>
            <a:ext cx="2029968" cy="2240280"/>
          </a:xfrm>
          <a:prstGeom prst="roundRect">
            <a:avLst>
              <a:gd name="adj" fmla="val 3604"/>
            </a:avLst>
          </a:prstGeom>
          <a:solidFill>
            <a:schemeClr val="bg2"/>
          </a:solidFill>
          <a:ln w="12700">
            <a:solidFill>
              <a:schemeClr val="bg2"/>
            </a:solidFill>
            <a:prstDash val="solid"/>
          </a:ln>
        </p:spPr>
      </p:sp>
      <p:sp>
        <p:nvSpPr>
          <p:cNvPr id="20" name="Text 18"/>
          <p:cNvSpPr txBox="1"/>
          <p:nvPr/>
        </p:nvSpPr>
        <p:spPr>
          <a:xfrm>
            <a:off x="5248656" y="3584448"/>
            <a:ext cx="1664208" cy="365760"/>
          </a:xfrm>
          <a:prstGeom prst="rect">
            <a:avLst/>
          </a:prstGeom>
          <a:noFill/>
          <a:ln/>
        </p:spPr>
        <p:txBody>
          <a:bodyPr wrap="square" lIns="0" tIns="0" rIns="0" bIns="0" rtlCol="0" anchor="ctr"/>
          <a:lstStyle/>
          <a:p>
            <a:pPr indent="0" marL="0">
              <a:buNone/>
            </a:pPr>
            <a:r>
              <a:rPr lang="en-US" sz="1600" b="1" dirty="0">
                <a:solidFill>
                  <a:schemeClr val="accent1"/>
                </a:solidFill>
                <a:latin typeface="Cambria" pitchFamily="34" charset="0"/>
                <a:ea typeface="Cambria" pitchFamily="34" charset="-122"/>
                <a:cs typeface="Cambria" pitchFamily="34" charset="-120"/>
              </a:rPr>
              <a:t>Browsing</a:t>
            </a:r>
            <a:endParaRPr lang="en-US" sz="1600" dirty="0"/>
          </a:p>
        </p:txBody>
      </p:sp>
      <p:sp>
        <p:nvSpPr>
          <p:cNvPr id="21" name="Text 19"/>
          <p:cNvSpPr txBox="1"/>
          <p:nvPr/>
        </p:nvSpPr>
        <p:spPr>
          <a:xfrm>
            <a:off x="5248656" y="4023360"/>
            <a:ext cx="1664208" cy="150876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Session length</a:t>
            </a:r>
            <a:endParaRPr lang="en-US" sz="1400" dirty="0"/>
          </a:p>
          <a:p>
            <a:pPr indent="0" marL="0">
              <a:spcAft>
                <a:spcPts val="400"/>
              </a:spcAft>
              <a:buNone/>
            </a:pPr>
            <a:r>
              <a:rPr lang="en-US" sz="1400" dirty="0">
                <a:solidFill>
                  <a:schemeClr val="tx1"/>
                </a:solidFill>
              </a:rPr>
              <a:t>Product views</a:t>
            </a:r>
            <a:endParaRPr lang="en-US" sz="1400" dirty="0"/>
          </a:p>
          <a:p>
            <a:pPr indent="0" marL="0">
              <a:spcAft>
                <a:spcPts val="400"/>
              </a:spcAft>
              <a:buNone/>
            </a:pPr>
            <a:r>
              <a:rPr lang="en-US" sz="1400" dirty="0">
                <a:solidFill>
                  <a:schemeClr val="tx1"/>
                </a:solidFill>
              </a:rPr>
              <a:t>Device type</a:t>
            </a:r>
            <a:endParaRPr lang="en-US" sz="1400" dirty="0"/>
          </a:p>
        </p:txBody>
      </p:sp>
      <p:sp>
        <p:nvSpPr>
          <p:cNvPr id="22" name="Feature group Order &amp; payment"/>
          <p:cNvSpPr/>
          <p:nvPr/>
        </p:nvSpPr>
        <p:spPr>
          <a:xfrm>
            <a:off x="7324344" y="3429000"/>
            <a:ext cx="2029968" cy="2240280"/>
          </a:xfrm>
          <a:prstGeom prst="roundRect">
            <a:avLst>
              <a:gd name="adj" fmla="val 3604"/>
            </a:avLst>
          </a:prstGeom>
          <a:solidFill>
            <a:schemeClr val="bg2"/>
          </a:solidFill>
          <a:ln w="12700">
            <a:solidFill>
              <a:schemeClr val="bg2"/>
            </a:solidFill>
            <a:prstDash val="solid"/>
          </a:ln>
        </p:spPr>
      </p:sp>
      <p:sp>
        <p:nvSpPr>
          <p:cNvPr id="23" name="Text 21"/>
          <p:cNvSpPr txBox="1"/>
          <p:nvPr/>
        </p:nvSpPr>
        <p:spPr>
          <a:xfrm>
            <a:off x="7507224" y="3584448"/>
            <a:ext cx="1664208" cy="365760"/>
          </a:xfrm>
          <a:prstGeom prst="rect">
            <a:avLst/>
          </a:prstGeom>
          <a:noFill/>
          <a:ln/>
        </p:spPr>
        <p:txBody>
          <a:bodyPr wrap="square" lIns="0" tIns="0" rIns="0" bIns="0" rtlCol="0" anchor="ctr"/>
          <a:lstStyle/>
          <a:p>
            <a:pPr indent="0" marL="0">
              <a:buNone/>
            </a:pPr>
            <a:r>
              <a:rPr lang="en-US" sz="1600" b="1" dirty="0">
                <a:solidFill>
                  <a:schemeClr val="accent1"/>
                </a:solidFill>
                <a:latin typeface="Cambria" pitchFamily="34" charset="0"/>
                <a:ea typeface="Cambria" pitchFamily="34" charset="-122"/>
                <a:cs typeface="Cambria" pitchFamily="34" charset="-120"/>
              </a:rPr>
              <a:t>Order &amp; payment</a:t>
            </a:r>
            <a:endParaRPr lang="en-US" sz="1600" dirty="0"/>
          </a:p>
        </p:txBody>
      </p:sp>
      <p:sp>
        <p:nvSpPr>
          <p:cNvPr id="24" name="Text 22"/>
          <p:cNvSpPr txBox="1"/>
          <p:nvPr/>
        </p:nvSpPr>
        <p:spPr>
          <a:xfrm>
            <a:off x="7507224" y="4023360"/>
            <a:ext cx="1664208" cy="150876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Shipping method</a:t>
            </a:r>
            <a:endParaRPr lang="en-US" sz="1400" dirty="0"/>
          </a:p>
          <a:p>
            <a:pPr indent="0" marL="0">
              <a:spcAft>
                <a:spcPts val="400"/>
              </a:spcAft>
              <a:buNone/>
            </a:pPr>
            <a:r>
              <a:rPr lang="en-US" sz="1400" dirty="0">
                <a:solidFill>
                  <a:schemeClr val="tx1"/>
                </a:solidFill>
              </a:rPr>
              <a:t>Payment method</a:t>
            </a:r>
            <a:endParaRPr lang="en-US" sz="1400" dirty="0"/>
          </a:p>
          <a:p>
            <a:pPr indent="0" marL="0">
              <a:spcAft>
                <a:spcPts val="400"/>
              </a:spcAft>
              <a:buNone/>
            </a:pPr>
            <a:r>
              <a:rPr lang="en-US" sz="1400" dirty="0">
                <a:solidFill>
                  <a:schemeClr val="tx1"/>
                </a:solidFill>
              </a:rPr>
              <a:t>Coupon used</a:t>
            </a:r>
            <a:endParaRPr lang="en-US" sz="1400" dirty="0"/>
          </a:p>
        </p:txBody>
      </p:sp>
      <p:sp>
        <p:nvSpPr>
          <p:cNvPr id="25" name="Feature group Delivery"/>
          <p:cNvSpPr/>
          <p:nvPr/>
        </p:nvSpPr>
        <p:spPr>
          <a:xfrm>
            <a:off x="9582912" y="3429000"/>
            <a:ext cx="2029968" cy="2240280"/>
          </a:xfrm>
          <a:prstGeom prst="roundRect">
            <a:avLst>
              <a:gd name="adj" fmla="val 3604"/>
            </a:avLst>
          </a:prstGeom>
          <a:solidFill>
            <a:schemeClr val="bg2"/>
          </a:solidFill>
          <a:ln w="12700">
            <a:solidFill>
              <a:schemeClr val="bg2"/>
            </a:solidFill>
            <a:prstDash val="solid"/>
          </a:ln>
        </p:spPr>
      </p:sp>
      <p:sp>
        <p:nvSpPr>
          <p:cNvPr id="26" name="Text 24"/>
          <p:cNvSpPr txBox="1"/>
          <p:nvPr/>
        </p:nvSpPr>
        <p:spPr>
          <a:xfrm>
            <a:off x="9765792" y="3584448"/>
            <a:ext cx="1664208" cy="365760"/>
          </a:xfrm>
          <a:prstGeom prst="rect">
            <a:avLst/>
          </a:prstGeom>
          <a:noFill/>
          <a:ln/>
        </p:spPr>
        <p:txBody>
          <a:bodyPr wrap="square" lIns="0" tIns="0" rIns="0" bIns="0" rtlCol="0" anchor="ctr"/>
          <a:lstStyle/>
          <a:p>
            <a:pPr indent="0" marL="0">
              <a:buNone/>
            </a:pPr>
            <a:r>
              <a:rPr lang="en-US" sz="1600" b="1" dirty="0">
                <a:solidFill>
                  <a:schemeClr val="accent1"/>
                </a:solidFill>
                <a:latin typeface="Cambria" pitchFamily="34" charset="0"/>
                <a:ea typeface="Cambria" pitchFamily="34" charset="-122"/>
                <a:cs typeface="Cambria" pitchFamily="34" charset="-120"/>
              </a:rPr>
              <a:t>Delivery</a:t>
            </a:r>
            <a:endParaRPr lang="en-US" sz="1600" dirty="0"/>
          </a:p>
        </p:txBody>
      </p:sp>
      <p:sp>
        <p:nvSpPr>
          <p:cNvPr id="27" name="Text 25"/>
          <p:cNvSpPr txBox="1"/>
          <p:nvPr/>
        </p:nvSpPr>
        <p:spPr>
          <a:xfrm>
            <a:off x="9765792" y="4023360"/>
            <a:ext cx="1664208" cy="150876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Delivery delay (days)</a:t>
            </a:r>
            <a:endParaRPr lang="en-US" sz="1400" dirty="0"/>
          </a:p>
          <a:p>
            <a:pPr indent="0" marL="0">
              <a:spcAft>
                <a:spcPts val="400"/>
              </a:spcAft>
              <a:buNone/>
            </a:pPr>
            <a:r>
              <a:rPr lang="en-US" sz="1400" dirty="0">
                <a:solidFill>
                  <a:schemeClr val="tx1"/>
                </a:solidFill>
              </a:rPr>
              <a:t>— known only after delivery</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Data Understanding and Preprocessing</a:t>
            </a:r>
            <a:endParaRPr lang="en-US" sz="3200" dirty="0"/>
          </a:p>
        </p:txBody>
      </p:sp>
      <p:sp>
        <p:nvSpPr>
          <p:cNvPr id="3" name="Text 1"/>
          <p:cNvSpPr txBox="1"/>
          <p:nvPr/>
        </p:nvSpPr>
        <p:spPr>
          <a:xfrm>
            <a:off x="548640" y="1325880"/>
            <a:ext cx="5303520" cy="41148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What the data showed</a:t>
            </a:r>
            <a:endParaRPr lang="en-US" sz="1800" dirty="0"/>
          </a:p>
        </p:txBody>
      </p:sp>
      <p:sp>
        <p:nvSpPr>
          <p:cNvPr id="4" name="Text 2"/>
          <p:cNvSpPr txBox="1"/>
          <p:nvPr/>
        </p:nvSpPr>
        <p:spPr>
          <a:xfrm>
            <a:off x="548640" y="1828800"/>
            <a:ext cx="5303520" cy="420624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No missing values and no duplicate rows</a:t>
            </a:r>
            <a:endParaRPr lang="en-US" sz="1600" dirty="0"/>
          </a:p>
          <a:p>
            <a:pPr marL="228600" indent="-228600">
              <a:spcAft>
                <a:spcPts val="800"/>
              </a:spcAft>
              <a:buSzPct val="100000"/>
              <a:buChar char="•"/>
            </a:pPr>
            <a:r>
              <a:rPr lang="en-US" sz="1600" dirty="0">
                <a:solidFill>
                  <a:schemeClr val="tx1"/>
                </a:solidFill>
              </a:rPr>
              <a:t>About 32% of rows contain impossible values, e.g. negative prices or view counts, ratings outside 1–5</a:t>
            </a:r>
            <a:endParaRPr lang="en-US" sz="1600" dirty="0"/>
          </a:p>
          <a:p>
            <a:pPr marL="228600" indent="-228600">
              <a:spcAft>
                <a:spcPts val="800"/>
              </a:spcAft>
              <a:buSzPct val="100000"/>
              <a:buChar char="•"/>
            </a:pPr>
            <a:r>
              <a:rPr lang="en-US" sz="1600" dirty="0">
                <a:solidFill>
                  <a:schemeClr val="tx1"/>
                </a:solidFill>
              </a:rPr>
              <a:t>Classes are nearly balanced, so no resampling was needed</a:t>
            </a:r>
            <a:endParaRPr lang="en-US" sz="1600" dirty="0"/>
          </a:p>
          <a:p>
            <a:pPr marL="228600" indent="-228600">
              <a:spcAft>
                <a:spcPts val="800"/>
              </a:spcAft>
              <a:buSzPct val="100000"/>
              <a:buChar char="•"/>
            </a:pPr>
            <a:r>
              <a:rPr lang="en-US" sz="1600" dirty="0">
                <a:solidFill>
                  <a:schemeClr val="tx1"/>
                </a:solidFill>
              </a:rPr>
              <a:t>Exploratory analysis: every feature is only weakly related to returns</a:t>
            </a:r>
            <a:endParaRPr lang="en-US" sz="1600" dirty="0"/>
          </a:p>
        </p:txBody>
      </p:sp>
      <p:sp>
        <p:nvSpPr>
          <p:cNvPr id="5" name="Preprocessing steps card"/>
          <p:cNvSpPr/>
          <p:nvPr/>
        </p:nvSpPr>
        <p:spPr>
          <a:xfrm>
            <a:off x="6263640" y="1325880"/>
            <a:ext cx="5349240" cy="4800600"/>
          </a:xfrm>
          <a:prstGeom prst="roundRect">
            <a:avLst>
              <a:gd name="adj" fmla="val 1524"/>
            </a:avLst>
          </a:prstGeom>
          <a:solidFill>
            <a:schemeClr val="bg2"/>
          </a:solidFill>
          <a:ln w="12700">
            <a:solidFill>
              <a:schemeClr val="bg2"/>
            </a:solidFill>
            <a:prstDash val="solid"/>
          </a:ln>
        </p:spPr>
      </p:sp>
      <p:sp>
        <p:nvSpPr>
          <p:cNvPr id="6" name="Text 4"/>
          <p:cNvSpPr txBox="1"/>
          <p:nvPr/>
        </p:nvSpPr>
        <p:spPr>
          <a:xfrm>
            <a:off x="6537960" y="1508760"/>
            <a:ext cx="4846320" cy="41148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What I did</a:t>
            </a:r>
            <a:endParaRPr lang="en-US" sz="1800" dirty="0"/>
          </a:p>
        </p:txBody>
      </p:sp>
      <p:sp>
        <p:nvSpPr>
          <p:cNvPr id="7" name="Text 5"/>
          <p:cNvSpPr txBox="1"/>
          <p:nvPr/>
        </p:nvSpPr>
        <p:spPr>
          <a:xfrm>
            <a:off x="6537960" y="2011680"/>
            <a:ext cx="1143000" cy="685800"/>
          </a:xfrm>
          <a:prstGeom prst="rect">
            <a:avLst/>
          </a:prstGeom>
          <a:noFill/>
          <a:ln/>
        </p:spPr>
        <p:txBody>
          <a:bodyPr wrap="square" lIns="0" tIns="0" rIns="0" bIns="0" rtlCol="0" anchor="t"/>
          <a:lstStyle/>
          <a:p>
            <a:pPr indent="0" marL="0">
              <a:buNone/>
            </a:pPr>
            <a:r>
              <a:rPr lang="en-US" sz="1500" b="1" dirty="0">
                <a:solidFill>
                  <a:schemeClr val="accent1"/>
                </a:solidFill>
              </a:rPr>
              <a:t>Clean</a:t>
            </a:r>
            <a:endParaRPr lang="en-US" sz="1500" dirty="0"/>
          </a:p>
        </p:txBody>
      </p:sp>
      <p:sp>
        <p:nvSpPr>
          <p:cNvPr id="8" name="Text 6"/>
          <p:cNvSpPr txBox="1"/>
          <p:nvPr/>
        </p:nvSpPr>
        <p:spPr>
          <a:xfrm>
            <a:off x="7726680" y="2011680"/>
            <a:ext cx="3703320" cy="731520"/>
          </a:xfrm>
          <a:prstGeom prst="rect">
            <a:avLst/>
          </a:prstGeom>
          <a:noFill/>
          <a:ln/>
        </p:spPr>
        <p:txBody>
          <a:bodyPr wrap="square" lIns="0" tIns="0" rIns="0" bIns="0" rtlCol="0" anchor="t"/>
          <a:lstStyle/>
          <a:p>
            <a:pPr indent="0" marL="0">
              <a:buNone/>
            </a:pPr>
            <a:r>
              <a:rPr lang="en-US" sz="1400" dirty="0">
                <a:solidFill>
                  <a:schemeClr val="tx1"/>
                </a:solidFill>
              </a:rPr>
              <a:t>Impossible values → missing, filled with the median, plus a flag column</a:t>
            </a:r>
            <a:endParaRPr lang="en-US" sz="1400" dirty="0"/>
          </a:p>
        </p:txBody>
      </p:sp>
      <p:sp>
        <p:nvSpPr>
          <p:cNvPr id="9" name="Text 7"/>
          <p:cNvSpPr txBox="1"/>
          <p:nvPr/>
        </p:nvSpPr>
        <p:spPr>
          <a:xfrm>
            <a:off x="6537960" y="2816352"/>
            <a:ext cx="1143000" cy="685800"/>
          </a:xfrm>
          <a:prstGeom prst="rect">
            <a:avLst/>
          </a:prstGeom>
          <a:noFill/>
          <a:ln/>
        </p:spPr>
        <p:txBody>
          <a:bodyPr wrap="square" lIns="0" tIns="0" rIns="0" bIns="0" rtlCol="0" anchor="t"/>
          <a:lstStyle/>
          <a:p>
            <a:pPr indent="0" marL="0">
              <a:buNone/>
            </a:pPr>
            <a:r>
              <a:rPr lang="en-US" sz="1500" b="1" dirty="0">
                <a:solidFill>
                  <a:schemeClr val="accent1"/>
                </a:solidFill>
              </a:rPr>
              <a:t>Remove</a:t>
            </a:r>
            <a:endParaRPr lang="en-US" sz="1500" dirty="0"/>
          </a:p>
        </p:txBody>
      </p:sp>
      <p:sp>
        <p:nvSpPr>
          <p:cNvPr id="10" name="Text 8"/>
          <p:cNvSpPr txBox="1"/>
          <p:nvPr/>
        </p:nvSpPr>
        <p:spPr>
          <a:xfrm>
            <a:off x="7726680" y="2816352"/>
            <a:ext cx="3703320" cy="731520"/>
          </a:xfrm>
          <a:prstGeom prst="rect">
            <a:avLst/>
          </a:prstGeom>
          <a:noFill/>
          <a:ln/>
        </p:spPr>
        <p:txBody>
          <a:bodyPr wrap="square" lIns="0" tIns="0" rIns="0" bIns="0" rtlCol="0" anchor="t"/>
          <a:lstStyle/>
          <a:p>
            <a:pPr indent="0" marL="0">
              <a:buNone/>
            </a:pPr>
            <a:r>
              <a:rPr lang="en-US" sz="1400" dirty="0">
                <a:solidFill>
                  <a:schemeClr val="tx1"/>
                </a:solidFill>
              </a:rPr>
              <a:t>order_id dropped (an identifier, not a feature)</a:t>
            </a:r>
            <a:endParaRPr lang="en-US" sz="1400" dirty="0"/>
          </a:p>
        </p:txBody>
      </p:sp>
      <p:sp>
        <p:nvSpPr>
          <p:cNvPr id="11" name="Text 9"/>
          <p:cNvSpPr txBox="1"/>
          <p:nvPr/>
        </p:nvSpPr>
        <p:spPr>
          <a:xfrm>
            <a:off x="6537960" y="3621024"/>
            <a:ext cx="1143000" cy="685800"/>
          </a:xfrm>
          <a:prstGeom prst="rect">
            <a:avLst/>
          </a:prstGeom>
          <a:noFill/>
          <a:ln/>
        </p:spPr>
        <p:txBody>
          <a:bodyPr wrap="square" lIns="0" tIns="0" rIns="0" bIns="0" rtlCol="0" anchor="t"/>
          <a:lstStyle/>
          <a:p>
            <a:pPr indent="0" marL="0">
              <a:buNone/>
            </a:pPr>
            <a:r>
              <a:rPr lang="en-US" sz="1500" b="1" dirty="0">
                <a:solidFill>
                  <a:schemeClr val="accent1"/>
                </a:solidFill>
              </a:rPr>
              <a:t>Encode</a:t>
            </a:r>
            <a:endParaRPr lang="en-US" sz="1500" dirty="0"/>
          </a:p>
        </p:txBody>
      </p:sp>
      <p:sp>
        <p:nvSpPr>
          <p:cNvPr id="12" name="Text 10"/>
          <p:cNvSpPr txBox="1"/>
          <p:nvPr/>
        </p:nvSpPr>
        <p:spPr>
          <a:xfrm>
            <a:off x="7726680" y="3621024"/>
            <a:ext cx="3703320" cy="731520"/>
          </a:xfrm>
          <a:prstGeom prst="rect">
            <a:avLst/>
          </a:prstGeom>
          <a:noFill/>
          <a:ln/>
        </p:spPr>
        <p:txBody>
          <a:bodyPr wrap="square" lIns="0" tIns="0" rIns="0" bIns="0" rtlCol="0" anchor="t"/>
          <a:lstStyle/>
          <a:p>
            <a:pPr indent="0" marL="0">
              <a:buNone/>
            </a:pPr>
            <a:r>
              <a:rPr lang="en-US" sz="1400" dirty="0">
                <a:solidFill>
                  <a:schemeClr val="tx1"/>
                </a:solidFill>
              </a:rPr>
              <a:t>One-hot encoding for device, category, shipping and payment</a:t>
            </a:r>
            <a:endParaRPr lang="en-US" sz="1400" dirty="0"/>
          </a:p>
        </p:txBody>
      </p:sp>
      <p:sp>
        <p:nvSpPr>
          <p:cNvPr id="13" name="Text 11"/>
          <p:cNvSpPr txBox="1"/>
          <p:nvPr/>
        </p:nvSpPr>
        <p:spPr>
          <a:xfrm>
            <a:off x="6537960" y="4425696"/>
            <a:ext cx="1143000" cy="685800"/>
          </a:xfrm>
          <a:prstGeom prst="rect">
            <a:avLst/>
          </a:prstGeom>
          <a:noFill/>
          <a:ln/>
        </p:spPr>
        <p:txBody>
          <a:bodyPr wrap="square" lIns="0" tIns="0" rIns="0" bIns="0" rtlCol="0" anchor="t"/>
          <a:lstStyle/>
          <a:p>
            <a:pPr indent="0" marL="0">
              <a:buNone/>
            </a:pPr>
            <a:r>
              <a:rPr lang="en-US" sz="1500" b="1" dirty="0">
                <a:solidFill>
                  <a:schemeClr val="accent1"/>
                </a:solidFill>
              </a:rPr>
              <a:t>Engineer</a:t>
            </a:r>
            <a:endParaRPr lang="en-US" sz="1500" dirty="0"/>
          </a:p>
        </p:txBody>
      </p:sp>
      <p:sp>
        <p:nvSpPr>
          <p:cNvPr id="14" name="Text 12"/>
          <p:cNvSpPr txBox="1"/>
          <p:nvPr/>
        </p:nvSpPr>
        <p:spPr>
          <a:xfrm>
            <a:off x="7726680" y="4425696"/>
            <a:ext cx="3703320" cy="731520"/>
          </a:xfrm>
          <a:prstGeom prst="rect">
            <a:avLst/>
          </a:prstGeom>
          <a:noFill/>
          <a:ln/>
        </p:spPr>
        <p:txBody>
          <a:bodyPr wrap="square" lIns="0" tIns="0" rIns="0" bIns="0" rtlCol="0" anchor="t"/>
          <a:lstStyle/>
          <a:p>
            <a:pPr indent="0" marL="0">
              <a:buNone/>
            </a:pPr>
            <a:r>
              <a:rPr lang="en-US" sz="1400" dirty="0">
                <a:solidFill>
                  <a:schemeClr val="tx1"/>
                </a:solidFill>
              </a:rPr>
              <a:t>Final price, discount amount, expected prior returns, views per minute, late-delivery flag</a:t>
            </a:r>
            <a:endParaRPr lang="en-US" sz="1400" dirty="0"/>
          </a:p>
        </p:txBody>
      </p:sp>
      <p:sp>
        <p:nvSpPr>
          <p:cNvPr id="15" name="Text 13"/>
          <p:cNvSpPr txBox="1"/>
          <p:nvPr/>
        </p:nvSpPr>
        <p:spPr>
          <a:xfrm>
            <a:off x="6537960" y="5230368"/>
            <a:ext cx="1143000" cy="685800"/>
          </a:xfrm>
          <a:prstGeom prst="rect">
            <a:avLst/>
          </a:prstGeom>
          <a:noFill/>
          <a:ln/>
        </p:spPr>
        <p:txBody>
          <a:bodyPr wrap="square" lIns="0" tIns="0" rIns="0" bIns="0" rtlCol="0" anchor="t"/>
          <a:lstStyle/>
          <a:p>
            <a:pPr indent="0" marL="0">
              <a:buNone/>
            </a:pPr>
            <a:r>
              <a:rPr lang="en-US" sz="1500" b="1" dirty="0">
                <a:solidFill>
                  <a:schemeClr val="accent1"/>
                </a:solidFill>
              </a:rPr>
              <a:t>Protect</a:t>
            </a:r>
            <a:endParaRPr lang="en-US" sz="1500" dirty="0"/>
          </a:p>
        </p:txBody>
      </p:sp>
      <p:sp>
        <p:nvSpPr>
          <p:cNvPr id="16" name="Text 14"/>
          <p:cNvSpPr txBox="1"/>
          <p:nvPr/>
        </p:nvSpPr>
        <p:spPr>
          <a:xfrm>
            <a:off x="7726680" y="5230368"/>
            <a:ext cx="3703320" cy="731520"/>
          </a:xfrm>
          <a:prstGeom prst="rect">
            <a:avLst/>
          </a:prstGeom>
          <a:noFill/>
          <a:ln/>
        </p:spPr>
        <p:txBody>
          <a:bodyPr wrap="square" lIns="0" tIns="0" rIns="0" bIns="0" rtlCol="0" anchor="t"/>
          <a:lstStyle/>
          <a:p>
            <a:pPr indent="0" marL="0">
              <a:buNone/>
            </a:pPr>
            <a:r>
              <a:rPr lang="en-US" sz="1400" dirty="0">
                <a:solidFill>
                  <a:schemeClr val="tx1"/>
                </a:solidFill>
              </a:rPr>
              <a:t>All steps fitted on training data only, to avoid data leakage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Predictive Modelling Workflow (KDD Process)</a:t>
            </a:r>
            <a:endParaRPr lang="en-US" sz="3200" dirty="0"/>
          </a:p>
        </p:txBody>
      </p:sp>
      <p:sp>
        <p:nvSpPr>
          <p:cNvPr id="3" name="KDD step 1"/>
          <p:cNvSpPr/>
          <p:nvPr/>
        </p:nvSpPr>
        <p:spPr>
          <a:xfrm>
            <a:off x="548640" y="1417320"/>
            <a:ext cx="1463040" cy="1828800"/>
          </a:xfrm>
          <a:prstGeom prst="roundRect">
            <a:avLst>
              <a:gd name="adj" fmla="val 5000"/>
            </a:avLst>
          </a:prstGeom>
          <a:solidFill>
            <a:schemeClr val="bg2"/>
          </a:solidFill>
          <a:ln w="12700">
            <a:solidFill>
              <a:schemeClr val="bg2"/>
            </a:solidFill>
            <a:prstDash val="solid"/>
          </a:ln>
        </p:spPr>
      </p:sp>
      <p:sp>
        <p:nvSpPr>
          <p:cNvPr id="4" name="Text 2"/>
          <p:cNvSpPr txBox="1"/>
          <p:nvPr/>
        </p:nvSpPr>
        <p:spPr>
          <a:xfrm>
            <a:off x="685800" y="1554480"/>
            <a:ext cx="1188720" cy="54864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1</a:t>
            </a:r>
            <a:endParaRPr lang="en-US" sz="2800" dirty="0"/>
          </a:p>
        </p:txBody>
      </p:sp>
      <p:sp>
        <p:nvSpPr>
          <p:cNvPr id="5" name="Text 3"/>
          <p:cNvSpPr txBox="1"/>
          <p:nvPr/>
        </p:nvSpPr>
        <p:spPr>
          <a:xfrm>
            <a:off x="685800" y="2148840"/>
            <a:ext cx="1188720" cy="1005840"/>
          </a:xfrm>
          <a:prstGeom prst="rect">
            <a:avLst/>
          </a:prstGeom>
          <a:noFill/>
          <a:ln/>
        </p:spPr>
        <p:txBody>
          <a:bodyPr wrap="square" lIns="0" tIns="0" rIns="0" bIns="0" rtlCol="0" anchor="t"/>
          <a:lstStyle/>
          <a:p>
            <a:pPr indent="0" marL="0">
              <a:buNone/>
            </a:pPr>
            <a:r>
              <a:rPr lang="en-US" sz="1400" dirty="0">
                <a:solidFill>
                  <a:schemeClr val="tx1"/>
                </a:solidFill>
              </a:rPr>
              <a:t>Problem identification</a:t>
            </a:r>
            <a:endParaRPr lang="en-US" sz="1400" dirty="0"/>
          </a:p>
        </p:txBody>
      </p:sp>
      <p:sp>
        <p:nvSpPr>
          <p:cNvPr id="6" name="KDD step 2"/>
          <p:cNvSpPr/>
          <p:nvPr/>
        </p:nvSpPr>
        <p:spPr>
          <a:xfrm>
            <a:off x="2148840" y="1417320"/>
            <a:ext cx="1463040" cy="1828800"/>
          </a:xfrm>
          <a:prstGeom prst="roundRect">
            <a:avLst>
              <a:gd name="adj" fmla="val 5000"/>
            </a:avLst>
          </a:prstGeom>
          <a:solidFill>
            <a:schemeClr val="bg2"/>
          </a:solidFill>
          <a:ln w="12700">
            <a:solidFill>
              <a:schemeClr val="bg2"/>
            </a:solidFill>
            <a:prstDash val="solid"/>
          </a:ln>
        </p:spPr>
      </p:sp>
      <p:sp>
        <p:nvSpPr>
          <p:cNvPr id="7" name="Text 5"/>
          <p:cNvSpPr txBox="1"/>
          <p:nvPr/>
        </p:nvSpPr>
        <p:spPr>
          <a:xfrm>
            <a:off x="2286000" y="1554480"/>
            <a:ext cx="1188720" cy="54864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2</a:t>
            </a:r>
            <a:endParaRPr lang="en-US" sz="2800" dirty="0"/>
          </a:p>
        </p:txBody>
      </p:sp>
      <p:sp>
        <p:nvSpPr>
          <p:cNvPr id="8" name="Text 6"/>
          <p:cNvSpPr txBox="1"/>
          <p:nvPr/>
        </p:nvSpPr>
        <p:spPr>
          <a:xfrm>
            <a:off x="2286000" y="2148840"/>
            <a:ext cx="1188720" cy="1005840"/>
          </a:xfrm>
          <a:prstGeom prst="rect">
            <a:avLst/>
          </a:prstGeom>
          <a:noFill/>
          <a:ln/>
        </p:spPr>
        <p:txBody>
          <a:bodyPr wrap="square" lIns="0" tIns="0" rIns="0" bIns="0" rtlCol="0" anchor="t"/>
          <a:lstStyle/>
          <a:p>
            <a:pPr indent="0" marL="0">
              <a:buNone/>
            </a:pPr>
            <a:r>
              <a:rPr lang="en-US" sz="1400" dirty="0">
                <a:solidFill>
                  <a:schemeClr val="tx1"/>
                </a:solidFill>
              </a:rPr>
              <a:t>Data understanding &amp; EDA</a:t>
            </a:r>
            <a:endParaRPr lang="en-US" sz="1400" dirty="0"/>
          </a:p>
        </p:txBody>
      </p:sp>
      <p:sp>
        <p:nvSpPr>
          <p:cNvPr id="9" name="KDD step 3"/>
          <p:cNvSpPr/>
          <p:nvPr/>
        </p:nvSpPr>
        <p:spPr>
          <a:xfrm>
            <a:off x="3749040" y="1417320"/>
            <a:ext cx="1463040" cy="1828800"/>
          </a:xfrm>
          <a:prstGeom prst="roundRect">
            <a:avLst>
              <a:gd name="adj" fmla="val 5000"/>
            </a:avLst>
          </a:prstGeom>
          <a:solidFill>
            <a:schemeClr val="bg2"/>
          </a:solidFill>
          <a:ln w="12700">
            <a:solidFill>
              <a:schemeClr val="bg2"/>
            </a:solidFill>
            <a:prstDash val="solid"/>
          </a:ln>
        </p:spPr>
      </p:sp>
      <p:sp>
        <p:nvSpPr>
          <p:cNvPr id="10" name="Text 8"/>
          <p:cNvSpPr txBox="1"/>
          <p:nvPr/>
        </p:nvSpPr>
        <p:spPr>
          <a:xfrm>
            <a:off x="3886200" y="1554480"/>
            <a:ext cx="1188720" cy="54864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3</a:t>
            </a:r>
            <a:endParaRPr lang="en-US" sz="2800" dirty="0"/>
          </a:p>
        </p:txBody>
      </p:sp>
      <p:sp>
        <p:nvSpPr>
          <p:cNvPr id="11" name="Text 9"/>
          <p:cNvSpPr txBox="1"/>
          <p:nvPr/>
        </p:nvSpPr>
        <p:spPr>
          <a:xfrm>
            <a:off x="3886200" y="2148840"/>
            <a:ext cx="1188720" cy="1005840"/>
          </a:xfrm>
          <a:prstGeom prst="rect">
            <a:avLst/>
          </a:prstGeom>
          <a:noFill/>
          <a:ln/>
        </p:spPr>
        <p:txBody>
          <a:bodyPr wrap="square" lIns="0" tIns="0" rIns="0" bIns="0" rtlCol="0" anchor="t"/>
          <a:lstStyle/>
          <a:p>
            <a:pPr indent="0" marL="0">
              <a:buNone/>
            </a:pPr>
            <a:r>
              <a:rPr lang="en-US" sz="1400" dirty="0">
                <a:solidFill>
                  <a:schemeClr val="tx1"/>
                </a:solidFill>
              </a:rPr>
              <a:t>Preprocessing &amp; cleaning</a:t>
            </a:r>
            <a:endParaRPr lang="en-US" sz="1400" dirty="0"/>
          </a:p>
        </p:txBody>
      </p:sp>
      <p:sp>
        <p:nvSpPr>
          <p:cNvPr id="12" name="KDD step 4"/>
          <p:cNvSpPr/>
          <p:nvPr/>
        </p:nvSpPr>
        <p:spPr>
          <a:xfrm>
            <a:off x="5349240" y="1417320"/>
            <a:ext cx="1463040" cy="1828800"/>
          </a:xfrm>
          <a:prstGeom prst="roundRect">
            <a:avLst>
              <a:gd name="adj" fmla="val 5000"/>
            </a:avLst>
          </a:prstGeom>
          <a:solidFill>
            <a:schemeClr val="bg2"/>
          </a:solidFill>
          <a:ln w="12700">
            <a:solidFill>
              <a:schemeClr val="bg2"/>
            </a:solidFill>
            <a:prstDash val="solid"/>
          </a:ln>
        </p:spPr>
      </p:sp>
      <p:sp>
        <p:nvSpPr>
          <p:cNvPr id="13" name="Text 11"/>
          <p:cNvSpPr txBox="1"/>
          <p:nvPr/>
        </p:nvSpPr>
        <p:spPr>
          <a:xfrm>
            <a:off x="5486400" y="1554480"/>
            <a:ext cx="1188720" cy="54864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4</a:t>
            </a:r>
            <a:endParaRPr lang="en-US" sz="2800" dirty="0"/>
          </a:p>
        </p:txBody>
      </p:sp>
      <p:sp>
        <p:nvSpPr>
          <p:cNvPr id="14" name="Text 12"/>
          <p:cNvSpPr txBox="1"/>
          <p:nvPr/>
        </p:nvSpPr>
        <p:spPr>
          <a:xfrm>
            <a:off x="5486400" y="2148840"/>
            <a:ext cx="1188720" cy="1005840"/>
          </a:xfrm>
          <a:prstGeom prst="rect">
            <a:avLst/>
          </a:prstGeom>
          <a:noFill/>
          <a:ln/>
        </p:spPr>
        <p:txBody>
          <a:bodyPr wrap="square" lIns="0" tIns="0" rIns="0" bIns="0" rtlCol="0" anchor="t"/>
          <a:lstStyle/>
          <a:p>
            <a:pPr indent="0" marL="0">
              <a:buNone/>
            </a:pPr>
            <a:r>
              <a:rPr lang="en-US" sz="1400" dirty="0">
                <a:solidFill>
                  <a:schemeClr val="tx1"/>
                </a:solidFill>
              </a:rPr>
              <a:t>Feature engineering &amp; encoding</a:t>
            </a:r>
            <a:endParaRPr lang="en-US" sz="1400" dirty="0"/>
          </a:p>
        </p:txBody>
      </p:sp>
      <p:sp>
        <p:nvSpPr>
          <p:cNvPr id="15" name="KDD step 5"/>
          <p:cNvSpPr/>
          <p:nvPr/>
        </p:nvSpPr>
        <p:spPr>
          <a:xfrm>
            <a:off x="6949440" y="1417320"/>
            <a:ext cx="1463040" cy="1828800"/>
          </a:xfrm>
          <a:prstGeom prst="roundRect">
            <a:avLst>
              <a:gd name="adj" fmla="val 5000"/>
            </a:avLst>
          </a:prstGeom>
          <a:solidFill>
            <a:schemeClr val="bg2"/>
          </a:solidFill>
          <a:ln w="12700">
            <a:solidFill>
              <a:schemeClr val="bg2"/>
            </a:solidFill>
            <a:prstDash val="solid"/>
          </a:ln>
        </p:spPr>
      </p:sp>
      <p:sp>
        <p:nvSpPr>
          <p:cNvPr id="16" name="Text 14"/>
          <p:cNvSpPr txBox="1"/>
          <p:nvPr/>
        </p:nvSpPr>
        <p:spPr>
          <a:xfrm>
            <a:off x="7086600" y="1554480"/>
            <a:ext cx="1188720" cy="54864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5</a:t>
            </a:r>
            <a:endParaRPr lang="en-US" sz="2800" dirty="0"/>
          </a:p>
        </p:txBody>
      </p:sp>
      <p:sp>
        <p:nvSpPr>
          <p:cNvPr id="17" name="Text 15"/>
          <p:cNvSpPr txBox="1"/>
          <p:nvPr/>
        </p:nvSpPr>
        <p:spPr>
          <a:xfrm>
            <a:off x="7086600" y="2148840"/>
            <a:ext cx="1188720" cy="1005840"/>
          </a:xfrm>
          <a:prstGeom prst="rect">
            <a:avLst/>
          </a:prstGeom>
          <a:noFill/>
          <a:ln/>
        </p:spPr>
        <p:txBody>
          <a:bodyPr wrap="square" lIns="0" tIns="0" rIns="0" bIns="0" rtlCol="0" anchor="t"/>
          <a:lstStyle/>
          <a:p>
            <a:pPr indent="0" marL="0">
              <a:buNone/>
            </a:pPr>
            <a:r>
              <a:rPr lang="en-US" sz="1400" dirty="0">
                <a:solidFill>
                  <a:schemeClr val="tx1"/>
                </a:solidFill>
              </a:rPr>
              <a:t>Model training &amp; comparison</a:t>
            </a:r>
            <a:endParaRPr lang="en-US" sz="1400" dirty="0"/>
          </a:p>
        </p:txBody>
      </p:sp>
      <p:sp>
        <p:nvSpPr>
          <p:cNvPr id="18" name="KDD step 6"/>
          <p:cNvSpPr/>
          <p:nvPr/>
        </p:nvSpPr>
        <p:spPr>
          <a:xfrm>
            <a:off x="8549640" y="1417320"/>
            <a:ext cx="1463040" cy="1828800"/>
          </a:xfrm>
          <a:prstGeom prst="roundRect">
            <a:avLst>
              <a:gd name="adj" fmla="val 5000"/>
            </a:avLst>
          </a:prstGeom>
          <a:solidFill>
            <a:schemeClr val="bg2"/>
          </a:solidFill>
          <a:ln w="12700">
            <a:solidFill>
              <a:schemeClr val="bg2"/>
            </a:solidFill>
            <a:prstDash val="solid"/>
          </a:ln>
        </p:spPr>
      </p:sp>
      <p:sp>
        <p:nvSpPr>
          <p:cNvPr id="19" name="Text 17"/>
          <p:cNvSpPr txBox="1"/>
          <p:nvPr/>
        </p:nvSpPr>
        <p:spPr>
          <a:xfrm>
            <a:off x="8686800" y="1554480"/>
            <a:ext cx="1188720" cy="54864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6</a:t>
            </a:r>
            <a:endParaRPr lang="en-US" sz="2800" dirty="0"/>
          </a:p>
        </p:txBody>
      </p:sp>
      <p:sp>
        <p:nvSpPr>
          <p:cNvPr id="20" name="Text 18"/>
          <p:cNvSpPr txBox="1"/>
          <p:nvPr/>
        </p:nvSpPr>
        <p:spPr>
          <a:xfrm>
            <a:off x="8686800" y="2148840"/>
            <a:ext cx="1188720" cy="1005840"/>
          </a:xfrm>
          <a:prstGeom prst="rect">
            <a:avLst/>
          </a:prstGeom>
          <a:noFill/>
          <a:ln/>
        </p:spPr>
        <p:txBody>
          <a:bodyPr wrap="square" lIns="0" tIns="0" rIns="0" bIns="0" rtlCol="0" anchor="t"/>
          <a:lstStyle/>
          <a:p>
            <a:pPr indent="0" marL="0">
              <a:buNone/>
            </a:pPr>
            <a:r>
              <a:rPr lang="en-US" sz="1400" dirty="0">
                <a:solidFill>
                  <a:schemeClr val="tx1"/>
                </a:solidFill>
              </a:rPr>
              <a:t>Evaluation with suitable metrics</a:t>
            </a:r>
            <a:endParaRPr lang="en-US" sz="1400" dirty="0"/>
          </a:p>
        </p:txBody>
      </p:sp>
      <p:sp>
        <p:nvSpPr>
          <p:cNvPr id="21" name="KDD step 7"/>
          <p:cNvSpPr/>
          <p:nvPr/>
        </p:nvSpPr>
        <p:spPr>
          <a:xfrm>
            <a:off x="10149840" y="1417320"/>
            <a:ext cx="1463040" cy="1828800"/>
          </a:xfrm>
          <a:prstGeom prst="roundRect">
            <a:avLst>
              <a:gd name="adj" fmla="val 5000"/>
            </a:avLst>
          </a:prstGeom>
          <a:solidFill>
            <a:schemeClr val="bg2"/>
          </a:solidFill>
          <a:ln w="12700">
            <a:solidFill>
              <a:schemeClr val="bg2"/>
            </a:solidFill>
            <a:prstDash val="solid"/>
          </a:ln>
        </p:spPr>
      </p:sp>
      <p:sp>
        <p:nvSpPr>
          <p:cNvPr id="22" name="Text 20"/>
          <p:cNvSpPr txBox="1"/>
          <p:nvPr/>
        </p:nvSpPr>
        <p:spPr>
          <a:xfrm>
            <a:off x="10287000" y="1554480"/>
            <a:ext cx="1188720" cy="54864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7</a:t>
            </a:r>
            <a:endParaRPr lang="en-US" sz="2800" dirty="0"/>
          </a:p>
        </p:txBody>
      </p:sp>
      <p:sp>
        <p:nvSpPr>
          <p:cNvPr id="23" name="Text 21"/>
          <p:cNvSpPr txBox="1"/>
          <p:nvPr/>
        </p:nvSpPr>
        <p:spPr>
          <a:xfrm>
            <a:off x="10287000" y="2148840"/>
            <a:ext cx="1188720" cy="1005840"/>
          </a:xfrm>
          <a:prstGeom prst="rect">
            <a:avLst/>
          </a:prstGeom>
          <a:noFill/>
          <a:ln/>
        </p:spPr>
        <p:txBody>
          <a:bodyPr wrap="square" lIns="0" tIns="0" rIns="0" bIns="0" rtlCol="0" anchor="t"/>
          <a:lstStyle/>
          <a:p>
            <a:pPr indent="0" marL="0">
              <a:buNone/>
            </a:pPr>
            <a:r>
              <a:rPr lang="en-US" sz="1400" dirty="0">
                <a:solidFill>
                  <a:schemeClr val="tx1"/>
                </a:solidFill>
              </a:rPr>
              <a:t>Interpretation &amp; business use</a:t>
            </a:r>
            <a:endParaRPr lang="en-US" sz="1400" dirty="0"/>
          </a:p>
        </p:txBody>
      </p:sp>
      <p:sp>
        <p:nvSpPr>
          <p:cNvPr id="24" name="Text 22"/>
          <p:cNvSpPr txBox="1"/>
          <p:nvPr/>
        </p:nvSpPr>
        <p:spPr>
          <a:xfrm>
            <a:off x="548640" y="3611880"/>
            <a:ext cx="5486400" cy="41148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Five models evaluated</a:t>
            </a:r>
            <a:endParaRPr lang="en-US" sz="1800" dirty="0"/>
          </a:p>
        </p:txBody>
      </p:sp>
      <p:sp>
        <p:nvSpPr>
          <p:cNvPr id="25" name="Model Logistic Regression"/>
          <p:cNvSpPr/>
          <p:nvPr/>
        </p:nvSpPr>
        <p:spPr>
          <a:xfrm>
            <a:off x="548640" y="4114800"/>
            <a:ext cx="2066544" cy="640080"/>
          </a:xfrm>
          <a:prstGeom prst="roundRect">
            <a:avLst>
              <a:gd name="adj" fmla="val 11429"/>
            </a:avLst>
          </a:prstGeom>
          <a:solidFill>
            <a:schemeClr val="bg2"/>
          </a:solidFill>
          <a:ln w="12700">
            <a:solidFill>
              <a:schemeClr val="bg2"/>
            </a:solidFill>
            <a:prstDash val="solid"/>
          </a:ln>
        </p:spPr>
      </p:sp>
      <p:sp>
        <p:nvSpPr>
          <p:cNvPr id="26" name="Text 24"/>
          <p:cNvSpPr txBox="1"/>
          <p:nvPr/>
        </p:nvSpPr>
        <p:spPr>
          <a:xfrm>
            <a:off x="548640" y="4114800"/>
            <a:ext cx="2066544" cy="640080"/>
          </a:xfrm>
          <a:prstGeom prst="rect">
            <a:avLst/>
          </a:prstGeom>
          <a:noFill/>
          <a:ln/>
        </p:spPr>
        <p:txBody>
          <a:bodyPr wrap="square" lIns="0" tIns="0" rIns="0" bIns="0" rtlCol="0" anchor="ctr"/>
          <a:lstStyle/>
          <a:p>
            <a:pPr algn="ctr" indent="0" marL="0">
              <a:buNone/>
            </a:pPr>
            <a:r>
              <a:rPr lang="en-US" sz="1500" dirty="0">
                <a:solidFill>
                  <a:schemeClr val="tx1"/>
                </a:solidFill>
              </a:rPr>
              <a:t>Logistic Regression</a:t>
            </a:r>
            <a:endParaRPr lang="en-US" sz="1500" dirty="0"/>
          </a:p>
        </p:txBody>
      </p:sp>
      <p:sp>
        <p:nvSpPr>
          <p:cNvPr id="27" name="Model Decision Tree"/>
          <p:cNvSpPr/>
          <p:nvPr/>
        </p:nvSpPr>
        <p:spPr>
          <a:xfrm>
            <a:off x="2798064" y="4114800"/>
            <a:ext cx="2066544" cy="640080"/>
          </a:xfrm>
          <a:prstGeom prst="roundRect">
            <a:avLst>
              <a:gd name="adj" fmla="val 11429"/>
            </a:avLst>
          </a:prstGeom>
          <a:solidFill>
            <a:schemeClr val="bg2"/>
          </a:solidFill>
          <a:ln w="12700">
            <a:solidFill>
              <a:schemeClr val="bg2"/>
            </a:solidFill>
            <a:prstDash val="solid"/>
          </a:ln>
        </p:spPr>
      </p:sp>
      <p:sp>
        <p:nvSpPr>
          <p:cNvPr id="28" name="Text 26"/>
          <p:cNvSpPr txBox="1"/>
          <p:nvPr/>
        </p:nvSpPr>
        <p:spPr>
          <a:xfrm>
            <a:off x="2798064" y="4114800"/>
            <a:ext cx="2066544" cy="640080"/>
          </a:xfrm>
          <a:prstGeom prst="rect">
            <a:avLst/>
          </a:prstGeom>
          <a:noFill/>
          <a:ln/>
        </p:spPr>
        <p:txBody>
          <a:bodyPr wrap="square" lIns="0" tIns="0" rIns="0" bIns="0" rtlCol="0" anchor="ctr"/>
          <a:lstStyle/>
          <a:p>
            <a:pPr algn="ctr" indent="0" marL="0">
              <a:buNone/>
            </a:pPr>
            <a:r>
              <a:rPr lang="en-US" sz="1500" dirty="0">
                <a:solidFill>
                  <a:schemeClr val="tx1"/>
                </a:solidFill>
              </a:rPr>
              <a:t>Decision Tree</a:t>
            </a:r>
            <a:endParaRPr lang="en-US" sz="1500" dirty="0"/>
          </a:p>
        </p:txBody>
      </p:sp>
      <p:sp>
        <p:nvSpPr>
          <p:cNvPr id="29" name="Model Random Forest"/>
          <p:cNvSpPr/>
          <p:nvPr/>
        </p:nvSpPr>
        <p:spPr>
          <a:xfrm>
            <a:off x="5047488" y="4114800"/>
            <a:ext cx="2066544" cy="640080"/>
          </a:xfrm>
          <a:prstGeom prst="roundRect">
            <a:avLst>
              <a:gd name="adj" fmla="val 11429"/>
            </a:avLst>
          </a:prstGeom>
          <a:solidFill>
            <a:schemeClr val="bg2"/>
          </a:solidFill>
          <a:ln w="12700">
            <a:solidFill>
              <a:schemeClr val="bg2"/>
            </a:solidFill>
            <a:prstDash val="solid"/>
          </a:ln>
        </p:spPr>
      </p:sp>
      <p:sp>
        <p:nvSpPr>
          <p:cNvPr id="30" name="Text 28"/>
          <p:cNvSpPr txBox="1"/>
          <p:nvPr/>
        </p:nvSpPr>
        <p:spPr>
          <a:xfrm>
            <a:off x="5047488" y="4114800"/>
            <a:ext cx="2066544" cy="640080"/>
          </a:xfrm>
          <a:prstGeom prst="rect">
            <a:avLst/>
          </a:prstGeom>
          <a:noFill/>
          <a:ln/>
        </p:spPr>
        <p:txBody>
          <a:bodyPr wrap="square" lIns="0" tIns="0" rIns="0" bIns="0" rtlCol="0" anchor="ctr"/>
          <a:lstStyle/>
          <a:p>
            <a:pPr algn="ctr" indent="0" marL="0">
              <a:buNone/>
            </a:pPr>
            <a:r>
              <a:rPr lang="en-US" sz="1500" dirty="0">
                <a:solidFill>
                  <a:schemeClr val="tx1"/>
                </a:solidFill>
              </a:rPr>
              <a:t>Random Forest</a:t>
            </a:r>
            <a:endParaRPr lang="en-US" sz="1500" dirty="0"/>
          </a:p>
        </p:txBody>
      </p:sp>
      <p:sp>
        <p:nvSpPr>
          <p:cNvPr id="31" name="Model HistGradientBoosting"/>
          <p:cNvSpPr/>
          <p:nvPr/>
        </p:nvSpPr>
        <p:spPr>
          <a:xfrm>
            <a:off x="7296912" y="4114800"/>
            <a:ext cx="2066544" cy="640080"/>
          </a:xfrm>
          <a:prstGeom prst="roundRect">
            <a:avLst>
              <a:gd name="adj" fmla="val 11429"/>
            </a:avLst>
          </a:prstGeom>
          <a:solidFill>
            <a:schemeClr val="bg2"/>
          </a:solidFill>
          <a:ln w="12700">
            <a:solidFill>
              <a:schemeClr val="bg2"/>
            </a:solidFill>
            <a:prstDash val="solid"/>
          </a:ln>
        </p:spPr>
      </p:sp>
      <p:sp>
        <p:nvSpPr>
          <p:cNvPr id="32" name="Text 30"/>
          <p:cNvSpPr txBox="1"/>
          <p:nvPr/>
        </p:nvSpPr>
        <p:spPr>
          <a:xfrm>
            <a:off x="7296912" y="4114800"/>
            <a:ext cx="2066544" cy="640080"/>
          </a:xfrm>
          <a:prstGeom prst="rect">
            <a:avLst/>
          </a:prstGeom>
          <a:noFill/>
          <a:ln/>
        </p:spPr>
        <p:txBody>
          <a:bodyPr wrap="square" lIns="0" tIns="0" rIns="0" bIns="0" rtlCol="0" anchor="ctr"/>
          <a:lstStyle/>
          <a:p>
            <a:pPr algn="ctr" indent="0" marL="0">
              <a:buNone/>
            </a:pPr>
            <a:r>
              <a:rPr lang="en-US" sz="1500" dirty="0">
                <a:solidFill>
                  <a:schemeClr val="tx1"/>
                </a:solidFill>
              </a:rPr>
              <a:t>HistGradientBoosting</a:t>
            </a:r>
            <a:endParaRPr lang="en-US" sz="1500" dirty="0"/>
          </a:p>
        </p:txBody>
      </p:sp>
      <p:sp>
        <p:nvSpPr>
          <p:cNvPr id="33" name="Model XGBoost"/>
          <p:cNvSpPr/>
          <p:nvPr/>
        </p:nvSpPr>
        <p:spPr>
          <a:xfrm>
            <a:off x="9546336" y="4114800"/>
            <a:ext cx="2066544" cy="640080"/>
          </a:xfrm>
          <a:prstGeom prst="roundRect">
            <a:avLst>
              <a:gd name="adj" fmla="val 11429"/>
            </a:avLst>
          </a:prstGeom>
          <a:solidFill>
            <a:schemeClr val="accent1"/>
          </a:solidFill>
          <a:ln w="12700">
            <a:solidFill>
              <a:schemeClr val="accent1"/>
            </a:solidFill>
            <a:prstDash val="solid"/>
          </a:ln>
        </p:spPr>
      </p:sp>
      <p:sp>
        <p:nvSpPr>
          <p:cNvPr id="34" name="Text 32"/>
          <p:cNvSpPr txBox="1"/>
          <p:nvPr/>
        </p:nvSpPr>
        <p:spPr>
          <a:xfrm>
            <a:off x="9546336" y="4114800"/>
            <a:ext cx="2066544" cy="640080"/>
          </a:xfrm>
          <a:prstGeom prst="rect">
            <a:avLst/>
          </a:prstGeom>
          <a:noFill/>
          <a:ln/>
        </p:spPr>
        <p:txBody>
          <a:bodyPr wrap="square" lIns="0" tIns="0" rIns="0" bIns="0" rtlCol="0" anchor="ctr"/>
          <a:lstStyle/>
          <a:p>
            <a:pPr algn="ctr" indent="0" marL="0">
              <a:buNone/>
            </a:pPr>
            <a:r>
              <a:rPr lang="en-US" sz="1500" b="1" dirty="0">
                <a:solidFill>
                  <a:schemeClr val="bg1"/>
                </a:solidFill>
              </a:rPr>
              <a:t>XGBoost</a:t>
            </a:r>
            <a:endParaRPr lang="en-US" sz="1500" dirty="0"/>
          </a:p>
        </p:txBody>
      </p:sp>
      <p:sp>
        <p:nvSpPr>
          <p:cNvPr id="35" name="Text 33"/>
          <p:cNvSpPr txBox="1"/>
          <p:nvPr/>
        </p:nvSpPr>
        <p:spPr>
          <a:xfrm>
            <a:off x="548640" y="5029200"/>
            <a:ext cx="11064240" cy="118872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Logistic Regression is the simple, interpretable baseline; the tree-based models can capture non-linear patterns</a:t>
            </a:r>
            <a:endParaRPr lang="en-US" sz="1500" dirty="0"/>
          </a:p>
          <a:p>
            <a:pPr marL="228600" indent="-228600">
              <a:spcAft>
                <a:spcPts val="800"/>
              </a:spcAft>
              <a:buSzPct val="100000"/>
              <a:buChar char="•"/>
            </a:pPr>
            <a:r>
              <a:rPr lang="en-US" sz="1500" dirty="0">
                <a:solidFill>
                  <a:schemeClr val="tx1"/>
                </a:solidFill>
              </a:rPr>
              <a:t>Same setup for every model: 80 / 20 stratified split (160,000 / 40,000 orders), tuning, then 5-fold cross-validation</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Model Evaluation and Comparison</a:t>
            </a:r>
            <a:endParaRPr lang="en-US" sz="3200" dirty="0"/>
          </a:p>
        </p:txBody>
      </p:sp>
      <p:graphicFrame>
        <p:nvGraphicFramePr>
          <p:cNvPr id="3" name="ROC-AUC comparison chart" descr=""/>
          <p:cNvGraphicFramePr/>
          <p:nvPr/>
        </p:nvGraphicFramePr>
        <p:xfrm>
          <a:off x="548640" y="1280160"/>
          <a:ext cx="5120640" cy="420624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48640" y="5577840"/>
            <a:ext cx="5120640" cy="320040"/>
          </a:xfrm>
          <a:prstGeom prst="rect">
            <a:avLst/>
          </a:prstGeom>
          <a:noFill/>
          <a:ln/>
        </p:spPr>
        <p:txBody>
          <a:bodyPr wrap="square" lIns="0" tIns="0" rIns="0" bIns="0" rtlCol="0" anchor="ctr"/>
          <a:lstStyle/>
          <a:p>
            <a:pPr indent="0" marL="0">
              <a:buNone/>
            </a:pPr>
            <a:r>
              <a:rPr lang="en-US" sz="1100" i="1" dirty="0">
                <a:solidFill>
                  <a:schemeClr val="tx2"/>
                </a:solidFill>
              </a:rPr>
              <a:t>Other models' scores come from the same project pipeline run.</a:t>
            </a:r>
            <a:endParaRPr lang="en-US" sz="1100" dirty="0"/>
          </a:p>
        </p:txBody>
      </p:sp>
      <p:graphicFrame>
        <p:nvGraphicFramePr>
          <p:cNvPr id="7" name="XGBoost metrics table"/>
          <p:cNvGraphicFramePr>
            <a:graphicFrameLocks noGrp="1"/>
          </p:cNvGraphicFramePr>
          <p:nvPr>
            <p:extLst>
              <p:ext uri="{D42A27DB-BD31-4B8C-83A1-F6EECF244321}">
                <p14:modId xmlns:p14="http://schemas.microsoft.com/office/powerpoint/2010/main" val="1579011935"/>
              </p:ext>
            </p:extLst>
          </p:nvPr>
        </p:nvGraphicFramePr>
        <p:xfrm>
          <a:off x="5989320" y="1325880"/>
          <a:ext cx="5623560" cy="914400"/>
        </p:xfrm>
        <a:graphic>
          <a:graphicData uri="http://schemas.openxmlformats.org/drawingml/2006/table">
            <a:tbl>
              <a:tblPr/>
              <a:tblGrid>
                <a:gridCol w="1143000"/>
                <a:gridCol w="960120"/>
                <a:gridCol w="3520440"/>
              </a:tblGrid>
              <a:tr h="384048">
                <a:tc>
                  <a:txBody>
                    <a:bodyPr/>
                    <a:lstStyle/>
                    <a:p>
                      <a:pPr algn="l" indent="0" marL="0">
                        <a:buNone/>
                      </a:pPr>
                      <a:r>
                        <a:rPr lang="en-US" sz="1400" b="1" dirty="0">
                          <a:solidFill>
                            <a:srgbClr val="FFFFFF"/>
                          </a:solidFill>
                        </a:rPr>
                        <a:t>Metric</a:t>
                      </a:r>
                      <a:endParaRPr lang="en-US" sz="1400" dirty="0"/>
                    </a:p>
                  </a:txBody>
                  <a:tcPr marL="76200" marR="76200" marT="38100" marB="3810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0F766E"/>
                    </a:solidFill>
                  </a:tcPr>
                </a:tc>
                <a:tc>
                  <a:txBody>
                    <a:bodyPr/>
                    <a:lstStyle/>
                    <a:p>
                      <a:pPr algn="ctr" indent="0" marL="0">
                        <a:buNone/>
                      </a:pPr>
                      <a:r>
                        <a:rPr lang="en-US" sz="1400" b="1" dirty="0">
                          <a:solidFill>
                            <a:srgbClr val="FFFFFF"/>
                          </a:solidFill>
                        </a:rPr>
                        <a:t>XGBoost</a:t>
                      </a:r>
                      <a:endParaRPr lang="en-US" sz="1400" dirty="0"/>
                    </a:p>
                  </a:txBody>
                  <a:tcPr marL="76200" marR="76200" marT="38100" marB="3810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0F766E"/>
                    </a:solidFill>
                  </a:tcPr>
                </a:tc>
                <a:tc>
                  <a:txBody>
                    <a:bodyPr/>
                    <a:lstStyle/>
                    <a:p>
                      <a:pPr algn="l" indent="0" marL="0">
                        <a:buNone/>
                      </a:pPr>
                      <a:r>
                        <a:rPr lang="en-US" sz="1300" b="1" dirty="0">
                          <a:solidFill>
                            <a:srgbClr val="FFFFFF"/>
                          </a:solidFill>
                        </a:rPr>
                        <a:t>What it means</a:t>
                      </a:r>
                      <a:endParaRPr lang="en-US" sz="1300" dirty="0"/>
                    </a:p>
                  </a:txBody>
                  <a:tcPr marL="76200" marR="76200" marT="38100" marB="3810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0F766E"/>
                    </a:solidFill>
                  </a:tcPr>
                </a:tc>
              </a:tr>
              <a:tr h="566928">
                <a:tc>
                  <a:txBody>
                    <a:bodyPr/>
                    <a:lstStyle/>
                    <a:p>
                      <a:pPr algn="l" indent="0" marL="0">
                        <a:buNone/>
                      </a:pPr>
                      <a:r>
                        <a:rPr lang="en-US" sz="1400" b="1" dirty="0">
                          <a:solidFill>
                            <a:srgbClr val="1F2328"/>
                          </a:solidFill>
                        </a:rPr>
                        <a:t>Accuracy</a:t>
                      </a:r>
                      <a:endParaRPr lang="en-US" sz="1400" dirty="0"/>
                    </a:p>
                  </a:txBody>
                  <a:tcPr marL="76200" marR="76200" marT="38100" marB="3810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F2328"/>
                          </a:solidFill>
                        </a:rPr>
                        <a:t>57.16%</a:t>
                      </a:r>
                      <a:endParaRPr lang="en-US" sz="1400" dirty="0"/>
                    </a:p>
                  </a:txBody>
                  <a:tcPr marL="76200" marR="76200" marT="38100" marB="3810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328"/>
                          </a:solidFill>
                        </a:rPr>
                        <a:t>Share of all orders predicted correctly (always guessing “not returned” gives about 52.5%)</a:t>
                      </a:r>
                      <a:endParaRPr lang="en-US" sz="1300" dirty="0"/>
                    </a:p>
                  </a:txBody>
                  <a:tcPr marL="76200" marR="76200" marT="38100" marB="3810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502920">
                <a:tc>
                  <a:txBody>
                    <a:bodyPr/>
                    <a:lstStyle/>
                    <a:p>
                      <a:pPr algn="l" indent="0" marL="0">
                        <a:buNone/>
                      </a:pPr>
                      <a:r>
                        <a:rPr lang="en-US" sz="1400" b="1" dirty="0">
                          <a:solidFill>
                            <a:srgbClr val="1F2328"/>
                          </a:solidFill>
                        </a:rPr>
                        <a:t>Precision</a:t>
                      </a:r>
                      <a:endParaRPr lang="en-US" sz="1400" dirty="0"/>
                    </a:p>
                  </a:txBody>
                  <a:tcPr marL="76200" marR="76200" marT="38100" marB="3810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2F4F5"/>
                    </a:solidFill>
                  </a:tcPr>
                </a:tc>
                <a:tc>
                  <a:txBody>
                    <a:bodyPr/>
                    <a:lstStyle/>
                    <a:p>
                      <a:pPr algn="ctr" indent="0" marL="0">
                        <a:buNone/>
                      </a:pPr>
                      <a:r>
                        <a:rPr lang="en-US" sz="1400" b="1" dirty="0">
                          <a:solidFill>
                            <a:srgbClr val="1F2328"/>
                          </a:solidFill>
                        </a:rPr>
                        <a:t>56.24%</a:t>
                      </a:r>
                      <a:endParaRPr lang="en-US" sz="1400" dirty="0"/>
                    </a:p>
                  </a:txBody>
                  <a:tcPr marL="76200" marR="76200" marT="38100" marB="3810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2F4F5"/>
                    </a:solidFill>
                  </a:tcPr>
                </a:tc>
                <a:tc>
                  <a:txBody>
                    <a:bodyPr/>
                    <a:lstStyle/>
                    <a:p>
                      <a:pPr algn="l" indent="0" marL="0">
                        <a:buNone/>
                      </a:pPr>
                      <a:r>
                        <a:rPr lang="en-US" sz="1300" dirty="0">
                          <a:solidFill>
                            <a:srgbClr val="1F2328"/>
                          </a:solidFill>
                        </a:rPr>
                        <a:t>Of orders flagged as returns, how many were actually returned</a:t>
                      </a:r>
                      <a:endParaRPr lang="en-US" sz="1300" dirty="0"/>
                    </a:p>
                  </a:txBody>
                  <a:tcPr marL="76200" marR="76200" marT="38100" marB="3810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2F4F5"/>
                    </a:solidFill>
                  </a:tcPr>
                </a:tc>
              </a:tr>
              <a:tr h="457200">
                <a:tc>
                  <a:txBody>
                    <a:bodyPr/>
                    <a:lstStyle/>
                    <a:p>
                      <a:pPr algn="l" indent="0" marL="0">
                        <a:buNone/>
                      </a:pPr>
                      <a:r>
                        <a:rPr lang="en-US" sz="1400" b="1" dirty="0">
                          <a:solidFill>
                            <a:srgbClr val="1F2328"/>
                          </a:solidFill>
                        </a:rPr>
                        <a:t>Recall</a:t>
                      </a:r>
                      <a:endParaRPr lang="en-US" sz="1400" dirty="0"/>
                    </a:p>
                  </a:txBody>
                  <a:tcPr marL="76200" marR="76200" marT="38100" marB="3810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F2328"/>
                          </a:solidFill>
                        </a:rPr>
                        <a:t>43.86%</a:t>
                      </a:r>
                      <a:endParaRPr lang="en-US" sz="1400" dirty="0"/>
                    </a:p>
                  </a:txBody>
                  <a:tcPr marL="76200" marR="76200" marT="38100" marB="3810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328"/>
                          </a:solidFill>
                        </a:rPr>
                        <a:t>Of all actual returns, how many the model caught</a:t>
                      </a:r>
                      <a:endParaRPr lang="en-US" sz="1300" dirty="0"/>
                    </a:p>
                  </a:txBody>
                  <a:tcPr marL="76200" marR="76200" marT="38100" marB="3810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r h="457200">
                <a:tc>
                  <a:txBody>
                    <a:bodyPr/>
                    <a:lstStyle/>
                    <a:p>
                      <a:pPr algn="l" indent="0" marL="0">
                        <a:buNone/>
                      </a:pPr>
                      <a:r>
                        <a:rPr lang="en-US" sz="1400" b="1" dirty="0">
                          <a:solidFill>
                            <a:srgbClr val="1F2328"/>
                          </a:solidFill>
                        </a:rPr>
                        <a:t>F1-score</a:t>
                      </a:r>
                      <a:endParaRPr lang="en-US" sz="1400" dirty="0"/>
                    </a:p>
                  </a:txBody>
                  <a:tcPr marL="76200" marR="76200" marT="38100" marB="3810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2F4F5"/>
                    </a:solidFill>
                  </a:tcPr>
                </a:tc>
                <a:tc>
                  <a:txBody>
                    <a:bodyPr/>
                    <a:lstStyle/>
                    <a:p>
                      <a:pPr algn="ctr" indent="0" marL="0">
                        <a:buNone/>
                      </a:pPr>
                      <a:r>
                        <a:rPr lang="en-US" sz="1400" b="1" dirty="0">
                          <a:solidFill>
                            <a:srgbClr val="1F2328"/>
                          </a:solidFill>
                        </a:rPr>
                        <a:t>0.493</a:t>
                      </a:r>
                      <a:endParaRPr lang="en-US" sz="1400" dirty="0"/>
                    </a:p>
                  </a:txBody>
                  <a:tcPr marL="76200" marR="76200" marT="38100" marB="3810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2F4F5"/>
                    </a:solidFill>
                  </a:tcPr>
                </a:tc>
                <a:tc>
                  <a:txBody>
                    <a:bodyPr/>
                    <a:lstStyle/>
                    <a:p>
                      <a:pPr algn="l" indent="0" marL="0">
                        <a:buNone/>
                      </a:pPr>
                      <a:r>
                        <a:rPr lang="en-US" sz="1300" dirty="0">
                          <a:solidFill>
                            <a:srgbClr val="1F2328"/>
                          </a:solidFill>
                        </a:rPr>
                        <a:t>Single score balancing precision and recall</a:t>
                      </a:r>
                      <a:endParaRPr lang="en-US" sz="1300" dirty="0"/>
                    </a:p>
                  </a:txBody>
                  <a:tcPr marL="76200" marR="76200" marT="38100" marB="3810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2F4F5"/>
                    </a:solidFill>
                  </a:tcPr>
                </a:tc>
              </a:tr>
              <a:tr h="566928">
                <a:tc>
                  <a:txBody>
                    <a:bodyPr/>
                    <a:lstStyle/>
                    <a:p>
                      <a:pPr algn="l" indent="0" marL="0">
                        <a:buNone/>
                      </a:pPr>
                      <a:r>
                        <a:rPr lang="en-US" sz="1400" b="1" dirty="0">
                          <a:solidFill>
                            <a:srgbClr val="1F2328"/>
                          </a:solidFill>
                        </a:rPr>
                        <a:t>ROC-AUC</a:t>
                      </a:r>
                      <a:endParaRPr lang="en-US" sz="1400" dirty="0"/>
                    </a:p>
                  </a:txBody>
                  <a:tcPr marL="76200" marR="76200" marT="38100" marB="3810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F2328"/>
                          </a:solidFill>
                        </a:rPr>
                        <a:t>0.596</a:t>
                      </a:r>
                      <a:endParaRPr lang="en-US" sz="1400" dirty="0"/>
                    </a:p>
                  </a:txBody>
                  <a:tcPr marL="76200" marR="76200" marT="38100" marB="3810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328"/>
                          </a:solidFill>
                        </a:rPr>
                        <a:t>How well the model ranks risky orders above safe ones (0.5 = random, 1.0 = perfect)</a:t>
                      </a:r>
                      <a:endParaRPr lang="en-US" sz="1300" dirty="0"/>
                    </a:p>
                  </a:txBody>
                  <a:tcPr marL="76200" marR="76200" marT="38100" marB="38100"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r>
            </a:tbl>
          </a:graphicData>
        </a:graphic>
      </p:graphicFrame>
      <p:sp>
        <p:nvSpPr>
          <p:cNvPr id="6" name="Scenario note"/>
          <p:cNvSpPr/>
          <p:nvPr/>
        </p:nvSpPr>
        <p:spPr>
          <a:xfrm>
            <a:off x="5989320" y="4572000"/>
            <a:ext cx="5623560" cy="1325880"/>
          </a:xfrm>
          <a:prstGeom prst="roundRect">
            <a:avLst>
              <a:gd name="adj" fmla="val 5517"/>
            </a:avLst>
          </a:prstGeom>
          <a:solidFill>
            <a:schemeClr val="bg2"/>
          </a:solidFill>
          <a:ln w="12700">
            <a:solidFill>
              <a:schemeClr val="bg2"/>
            </a:solidFill>
            <a:prstDash val="solid"/>
          </a:ln>
        </p:spPr>
      </p:sp>
      <p:sp>
        <p:nvSpPr>
          <p:cNvPr id="7" name="Text 3"/>
          <p:cNvSpPr txBox="1"/>
          <p:nvPr/>
        </p:nvSpPr>
        <p:spPr>
          <a:xfrm>
            <a:off x="6217920" y="4663440"/>
            <a:ext cx="5212080" cy="1143000"/>
          </a:xfrm>
          <a:prstGeom prst="rect">
            <a:avLst/>
          </a:prstGeom>
          <a:noFill/>
          <a:ln/>
        </p:spPr>
        <p:txBody>
          <a:bodyPr wrap="square" lIns="0" tIns="0" rIns="0" bIns="0" rtlCol="0" anchor="ctr"/>
          <a:lstStyle/>
          <a:p>
            <a:pPr indent="0" marL="0">
              <a:buNone/>
            </a:pPr>
            <a:r>
              <a:rPr lang="en-US" sz="1400" b="1" dirty="0">
                <a:solidFill>
                  <a:schemeClr val="accent1"/>
                </a:solidFill>
              </a:rPr>
              <a:t>Two scenarios. </a:t>
            </a:r>
            <a:pPr indent="0" marL="0">
              <a:buNone/>
            </a:pPr>
            <a:r>
              <a:rPr lang="en-US" sz="1400" dirty="0">
                <a:solidFill>
                  <a:schemeClr val="tx1"/>
                </a:solidFill>
              </a:rPr>
              <a:t>The main model includes delivery delay, which is known only after delivery. A checkout-time model without it gives a very similar ROC-AUC </a:t>
            </a:r>
            <a:pPr indent="0" marL="0">
              <a:buNone/>
            </a:pPr>
            <a:r>
              <a:rPr lang="en-US" sz="1400" b="1" dirty="0">
                <a:solidFill>
                  <a:schemeClr val="tx1"/>
                </a:solidFill>
              </a:rPr>
              <a:t>≈ 0.593</a:t>
            </a:r>
            <a:pPr indent="0" marL="0">
              <a:buNone/>
            </a:pPr>
            <a:r>
              <a:rPr lang="en-US" sz="1400" dirty="0">
                <a:solidFill>
                  <a:schemeClr val="tx1"/>
                </a:solidFill>
              </a:rPr>
              <a: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Key Findings and Business Interpretation</a:t>
            </a:r>
            <a:endParaRPr lang="en-US" sz="3200" dirty="0"/>
          </a:p>
        </p:txBody>
      </p:sp>
      <p:graphicFrame>
        <p:nvGraphicFramePr>
          <p:cNvPr id="3" name="Return rate comparison chart" descr=""/>
          <p:cNvGraphicFramePr/>
          <p:nvPr/>
        </p:nvGraphicFramePr>
        <p:xfrm>
          <a:off x="548640" y="1280160"/>
          <a:ext cx="4937760" cy="4480560"/>
        </p:xfrm>
        <a:graphic xmlns:a="http://schemas.openxmlformats.org/drawingml/2006/main">
          <a:graphicData uri="http://schemas.openxmlformats.org/drawingml/2006/chart">
            <c:chart xmlns:c="http://schemas.openxmlformats.org/drawingml/2006/chart" r:id="rId1"/>
          </a:graphicData>
        </a:graphic>
      </p:graphicFrame>
      <p:sp>
        <p:nvSpPr>
          <p:cNvPr id="4" name="Lift stat"/>
          <p:cNvSpPr/>
          <p:nvPr/>
        </p:nvSpPr>
        <p:spPr>
          <a:xfrm>
            <a:off x="5897880" y="1325880"/>
            <a:ext cx="5715000" cy="1325880"/>
          </a:xfrm>
          <a:prstGeom prst="roundRect">
            <a:avLst>
              <a:gd name="adj" fmla="val 5517"/>
            </a:avLst>
          </a:prstGeom>
          <a:solidFill>
            <a:schemeClr val="bg2"/>
          </a:solidFill>
          <a:ln w="12700">
            <a:solidFill>
              <a:schemeClr val="bg2"/>
            </a:solidFill>
            <a:prstDash val="solid"/>
          </a:ln>
        </p:spPr>
      </p:sp>
      <p:sp>
        <p:nvSpPr>
          <p:cNvPr id="5" name="Text 2"/>
          <p:cNvSpPr txBox="1"/>
          <p:nvPr/>
        </p:nvSpPr>
        <p:spPr>
          <a:xfrm>
            <a:off x="6126480" y="1463040"/>
            <a:ext cx="525780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1.33×</a:t>
            </a:r>
            <a:endParaRPr lang="en-US" sz="3600" dirty="0"/>
          </a:p>
        </p:txBody>
      </p:sp>
      <p:sp>
        <p:nvSpPr>
          <p:cNvPr id="6" name="Text 3"/>
          <p:cNvSpPr txBox="1"/>
          <p:nvPr/>
        </p:nvSpPr>
        <p:spPr>
          <a:xfrm>
            <a:off x="6126480" y="2148840"/>
            <a:ext cx="5257800" cy="365760"/>
          </a:xfrm>
          <a:prstGeom prst="rect">
            <a:avLst/>
          </a:prstGeom>
          <a:noFill/>
          <a:ln/>
        </p:spPr>
        <p:txBody>
          <a:bodyPr wrap="square" lIns="0" tIns="0" rIns="0" bIns="0" rtlCol="0" anchor="ctr"/>
          <a:lstStyle/>
          <a:p>
            <a:pPr indent="0" marL="0">
              <a:buNone/>
            </a:pPr>
            <a:r>
              <a:rPr lang="en-US" sz="1400" dirty="0">
                <a:solidFill>
                  <a:schemeClr val="tx2"/>
                </a:solidFill>
              </a:rPr>
              <a:t>return rate of the highest-risk 10% vs all orders</a:t>
            </a:r>
            <a:endParaRPr lang="en-US" sz="1400" dirty="0"/>
          </a:p>
        </p:txBody>
      </p:sp>
      <p:sp>
        <p:nvSpPr>
          <p:cNvPr id="7" name="Text 4"/>
          <p:cNvSpPr txBox="1"/>
          <p:nvPr/>
        </p:nvSpPr>
        <p:spPr>
          <a:xfrm>
            <a:off x="5897880" y="2880360"/>
            <a:ext cx="5715000" cy="41148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What this means</a:t>
            </a:r>
            <a:endParaRPr lang="en-US" sz="1800" dirty="0"/>
          </a:p>
        </p:txBody>
      </p:sp>
      <p:sp>
        <p:nvSpPr>
          <p:cNvPr id="8" name="Text 5"/>
          <p:cNvSpPr txBox="1"/>
          <p:nvPr/>
        </p:nvSpPr>
        <p:spPr>
          <a:xfrm>
            <a:off x="5897880" y="3291840"/>
            <a:ext cx="5715000" cy="123444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The model is more useful for ranking orders by risk than for exact individual predictions</a:t>
            </a:r>
            <a:endParaRPr lang="en-US" sz="1500" dirty="0"/>
          </a:p>
          <a:p>
            <a:pPr marL="228600" indent="-228600">
              <a:spcAft>
                <a:spcPts val="800"/>
              </a:spcAft>
              <a:buSzPct val="100000"/>
              <a:buChar char="•"/>
            </a:pPr>
            <a:r>
              <a:rPr lang="en-US" sz="1500" dirty="0">
                <a:solidFill>
                  <a:schemeClr val="tx1"/>
                </a:solidFill>
              </a:rPr>
              <a:t>A retailer could focus checks or extra product information on the riskiest orders</a:t>
            </a:r>
            <a:endParaRPr lang="en-US" sz="1500" dirty="0"/>
          </a:p>
        </p:txBody>
      </p:sp>
      <p:sp>
        <p:nvSpPr>
          <p:cNvPr id="9" name="Text 6"/>
          <p:cNvSpPr txBox="1"/>
          <p:nvPr/>
        </p:nvSpPr>
        <p:spPr>
          <a:xfrm>
            <a:off x="5897880" y="4572000"/>
            <a:ext cx="5715000" cy="41148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Most important factors</a:t>
            </a:r>
            <a:endParaRPr lang="en-US" sz="1800" dirty="0"/>
          </a:p>
        </p:txBody>
      </p:sp>
      <p:sp>
        <p:nvSpPr>
          <p:cNvPr id="10" name="Text 7"/>
          <p:cNvSpPr txBox="1"/>
          <p:nvPr/>
        </p:nvSpPr>
        <p:spPr>
          <a:xfrm>
            <a:off x="5897880" y="4983480"/>
            <a:ext cx="5715000" cy="777240"/>
          </a:xfrm>
          <a:prstGeom prst="rect">
            <a:avLst/>
          </a:prstGeom>
          <a:noFill/>
          <a:ln/>
        </p:spPr>
        <p:txBody>
          <a:bodyPr wrap="square" lIns="0" tIns="0" rIns="0" bIns="0" rtlCol="0" anchor="t"/>
          <a:lstStyle/>
          <a:p>
            <a:pPr indent="0" marL="0">
              <a:buNone/>
            </a:pPr>
            <a:r>
              <a:rPr lang="en-US" sz="1500" dirty="0">
                <a:solidFill>
                  <a:schemeClr val="tx1"/>
                </a:solidFill>
              </a:rPr>
              <a:t>Shipping method · Product category · Device type · Coupon usage · Payment method · Purchase history</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Limitations and Future Improvements</a:t>
            </a:r>
            <a:endParaRPr lang="en-US" sz="3200" dirty="0"/>
          </a:p>
        </p:txBody>
      </p:sp>
      <p:sp>
        <p:nvSpPr>
          <p:cNvPr id="3" name="Limitations card"/>
          <p:cNvSpPr/>
          <p:nvPr/>
        </p:nvSpPr>
        <p:spPr>
          <a:xfrm>
            <a:off x="548640" y="1325880"/>
            <a:ext cx="5349240" cy="4206240"/>
          </a:xfrm>
          <a:prstGeom prst="roundRect">
            <a:avLst>
              <a:gd name="adj" fmla="val 1739"/>
            </a:avLst>
          </a:prstGeom>
          <a:solidFill>
            <a:schemeClr val="bg2"/>
          </a:solidFill>
          <a:ln w="12700">
            <a:solidFill>
              <a:schemeClr val="bg2"/>
            </a:solidFill>
            <a:prstDash val="solid"/>
          </a:ln>
        </p:spPr>
      </p:sp>
      <p:sp>
        <p:nvSpPr>
          <p:cNvPr id="4" name="Text 2"/>
          <p:cNvSpPr txBox="1"/>
          <p:nvPr/>
        </p:nvSpPr>
        <p:spPr>
          <a:xfrm>
            <a:off x="822960" y="1508760"/>
            <a:ext cx="4846320" cy="41148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Limitations</a:t>
            </a:r>
            <a:endParaRPr lang="en-US" sz="1800" dirty="0"/>
          </a:p>
        </p:txBody>
      </p:sp>
      <p:sp>
        <p:nvSpPr>
          <p:cNvPr id="5" name="Text 3"/>
          <p:cNvSpPr txBox="1"/>
          <p:nvPr/>
        </p:nvSpPr>
        <p:spPr>
          <a:xfrm>
            <a:off x="822960" y="2011680"/>
            <a:ext cx="4846320" cy="338328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Moderate performance: ROC-AUC ≈ 0.60, recall below 50%</a:t>
            </a:r>
            <a:endParaRPr lang="en-US" sz="1700" dirty="0"/>
          </a:p>
          <a:p>
            <a:pPr marL="228600" indent="-228600">
              <a:spcAft>
                <a:spcPts val="800"/>
              </a:spcAft>
              <a:buSzPct val="100000"/>
              <a:buChar char="•"/>
            </a:pPr>
            <a:r>
              <a:rPr lang="en-US" sz="1700" dirty="0">
                <a:solidFill>
                  <a:schemeClr val="tx1"/>
                </a:solidFill>
              </a:rPr>
              <a:t>Available features are only weakly related to returns</a:t>
            </a:r>
            <a:endParaRPr lang="en-US" sz="1700" dirty="0"/>
          </a:p>
          <a:p>
            <a:pPr marL="228600" indent="-228600">
              <a:spcAft>
                <a:spcPts val="800"/>
              </a:spcAft>
              <a:buSzPct val="100000"/>
              <a:buChar char="•"/>
            </a:pPr>
            <a:r>
              <a:rPr lang="en-US" sz="1700" dirty="0">
                <a:solidFill>
                  <a:schemeClr val="tx1"/>
                </a:solidFill>
              </a:rPr>
              <a:t>About a third of rows had impossible values, so the data may be synthetic</a:t>
            </a:r>
            <a:endParaRPr lang="en-US" sz="1700" dirty="0"/>
          </a:p>
          <a:p>
            <a:pPr marL="228600" indent="-228600">
              <a:spcAft>
                <a:spcPts val="800"/>
              </a:spcAft>
              <a:buSzPct val="100000"/>
              <a:buChar char="•"/>
            </a:pPr>
            <a:r>
              <a:rPr lang="en-US" sz="1700" dirty="0">
                <a:solidFill>
                  <a:schemeClr val="tx1"/>
                </a:solidFill>
              </a:rPr>
              <a:t>Main model uses delivery delay, known only after delivery</a:t>
            </a:r>
            <a:endParaRPr lang="en-US" sz="1700" dirty="0"/>
          </a:p>
          <a:p>
            <a:pPr marL="228600" indent="-228600">
              <a:spcAft>
                <a:spcPts val="800"/>
              </a:spcAft>
              <a:buSzPct val="100000"/>
              <a:buChar char="•"/>
            </a:pPr>
            <a:r>
              <a:rPr lang="en-US" sz="1700" dirty="0">
                <a:solidFill>
                  <a:schemeClr val="tx1"/>
                </a:solidFill>
              </a:rPr>
              <a:t>No return reasons, size or fit details, timestamps or customer IDs</a:t>
            </a:r>
            <a:endParaRPr lang="en-US" sz="1700" dirty="0"/>
          </a:p>
        </p:txBody>
      </p:sp>
      <p:sp>
        <p:nvSpPr>
          <p:cNvPr id="6" name="Future work card"/>
          <p:cNvSpPr/>
          <p:nvPr/>
        </p:nvSpPr>
        <p:spPr>
          <a:xfrm>
            <a:off x="6263640" y="1325880"/>
            <a:ext cx="5349240" cy="4206240"/>
          </a:xfrm>
          <a:prstGeom prst="roundRect">
            <a:avLst>
              <a:gd name="adj" fmla="val 1739"/>
            </a:avLst>
          </a:prstGeom>
          <a:solidFill>
            <a:schemeClr val="bg2"/>
          </a:solidFill>
          <a:ln w="12700">
            <a:solidFill>
              <a:schemeClr val="bg2"/>
            </a:solidFill>
            <a:prstDash val="solid"/>
          </a:ln>
        </p:spPr>
      </p:sp>
      <p:sp>
        <p:nvSpPr>
          <p:cNvPr id="7" name="Text 5"/>
          <p:cNvSpPr txBox="1"/>
          <p:nvPr/>
        </p:nvSpPr>
        <p:spPr>
          <a:xfrm>
            <a:off x="6537960" y="1508760"/>
            <a:ext cx="4846320" cy="41148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Future improvements</a:t>
            </a:r>
            <a:endParaRPr lang="en-US" sz="1800" dirty="0"/>
          </a:p>
        </p:txBody>
      </p:sp>
      <p:sp>
        <p:nvSpPr>
          <p:cNvPr id="8" name="Text 6"/>
          <p:cNvSpPr txBox="1"/>
          <p:nvPr/>
        </p:nvSpPr>
        <p:spPr>
          <a:xfrm>
            <a:off x="6537960" y="2011680"/>
            <a:ext cx="4846320" cy="338328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Collect more informative data: return reasons, size and fit, product reviews, detailed browsing behaviour</a:t>
            </a:r>
            <a:endParaRPr lang="en-US" sz="1700" dirty="0"/>
          </a:p>
          <a:p>
            <a:pPr marL="228600" indent="-228600">
              <a:spcAft>
                <a:spcPts val="800"/>
              </a:spcAft>
              <a:buSzPct val="100000"/>
              <a:buChar char="•"/>
            </a:pPr>
            <a:r>
              <a:rPr lang="en-US" sz="1700" dirty="0">
                <a:solidFill>
                  <a:schemeClr val="tx1"/>
                </a:solidFill>
              </a:rPr>
              <a:t>Validate on real retailer data and on later time periods</a:t>
            </a:r>
            <a:endParaRPr lang="en-US" sz="1700" dirty="0"/>
          </a:p>
          <a:p>
            <a:pPr marL="228600" indent="-228600">
              <a:spcAft>
                <a:spcPts val="800"/>
              </a:spcAft>
              <a:buSzPct val="100000"/>
              <a:buChar char="•"/>
            </a:pPr>
            <a:r>
              <a:rPr lang="en-US" sz="1700" dirty="0">
                <a:solidFill>
                  <a:schemeClr val="tx1"/>
                </a:solidFill>
              </a:rPr>
              <a:t>Choose the decision threshold from the real cost of a return</a:t>
            </a:r>
            <a:endParaRPr lang="en-US" sz="1700" dirty="0"/>
          </a:p>
          <a:p>
            <a:pPr marL="228600" indent="-228600">
              <a:spcAft>
                <a:spcPts val="800"/>
              </a:spcAft>
              <a:buSzPct val="100000"/>
              <a:buChar char="•"/>
            </a:pPr>
            <a:r>
              <a:rPr lang="en-US" sz="1700" dirty="0">
                <a:solidFill>
                  <a:schemeClr val="tx1"/>
                </a:solidFill>
              </a:rPr>
              <a:t>Further feature engineering and hyper-parameter tuning</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Conclusion</a:t>
            </a:r>
            <a:endParaRPr lang="en-US" sz="3200" dirty="0"/>
          </a:p>
        </p:txBody>
      </p:sp>
      <p:sp>
        <p:nvSpPr>
          <p:cNvPr id="3" name="Conclusion What I built"/>
          <p:cNvSpPr/>
          <p:nvPr/>
        </p:nvSpPr>
        <p:spPr>
          <a:xfrm>
            <a:off x="548640" y="1463040"/>
            <a:ext cx="3505200" cy="3200400"/>
          </a:xfrm>
          <a:prstGeom prst="roundRect">
            <a:avLst>
              <a:gd name="adj" fmla="val 2286"/>
            </a:avLst>
          </a:prstGeom>
          <a:solidFill>
            <a:schemeClr val="bg2"/>
          </a:solidFill>
          <a:ln w="12700">
            <a:solidFill>
              <a:schemeClr val="bg2"/>
            </a:solidFill>
            <a:prstDash val="solid"/>
          </a:ln>
        </p:spPr>
      </p:sp>
      <p:sp>
        <p:nvSpPr>
          <p:cNvPr id="4" name="Text 2"/>
          <p:cNvSpPr txBox="1"/>
          <p:nvPr/>
        </p:nvSpPr>
        <p:spPr>
          <a:xfrm>
            <a:off x="822960" y="1691640"/>
            <a:ext cx="91440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1</a:t>
            </a:r>
            <a:endParaRPr lang="en-US" sz="3600" dirty="0"/>
          </a:p>
        </p:txBody>
      </p:sp>
      <p:sp>
        <p:nvSpPr>
          <p:cNvPr id="5" name="Text 3"/>
          <p:cNvSpPr txBox="1"/>
          <p:nvPr/>
        </p:nvSpPr>
        <p:spPr>
          <a:xfrm>
            <a:off x="822960" y="2423160"/>
            <a:ext cx="2956560" cy="45720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What I built</a:t>
            </a:r>
            <a:endParaRPr lang="en-US" sz="2000" dirty="0"/>
          </a:p>
        </p:txBody>
      </p:sp>
      <p:sp>
        <p:nvSpPr>
          <p:cNvPr id="6" name="Text 4"/>
          <p:cNvSpPr txBox="1"/>
          <p:nvPr/>
        </p:nvSpPr>
        <p:spPr>
          <a:xfrm>
            <a:off x="822960" y="2971800"/>
            <a:ext cx="2956560" cy="1554480"/>
          </a:xfrm>
          <a:prstGeom prst="rect">
            <a:avLst/>
          </a:prstGeom>
          <a:noFill/>
          <a:ln/>
        </p:spPr>
        <p:txBody>
          <a:bodyPr wrap="square" lIns="0" tIns="0" rIns="0" bIns="0" rtlCol="0" anchor="t"/>
          <a:lstStyle/>
          <a:p>
            <a:pPr indent="0" marL="0">
              <a:buNone/>
            </a:pPr>
            <a:r>
              <a:rPr lang="en-US" sz="1700" dirty="0">
                <a:solidFill>
                  <a:schemeClr val="tx1"/>
                </a:solidFill>
              </a:rPr>
              <a:t>An end-to-end pipeline: data cleaning, feature engineering, five models, fair comparison and honest evaluation</a:t>
            </a:r>
            <a:endParaRPr lang="en-US" sz="1700" dirty="0"/>
          </a:p>
        </p:txBody>
      </p:sp>
      <p:sp>
        <p:nvSpPr>
          <p:cNvPr id="7" name="Conclusion What I learned"/>
          <p:cNvSpPr/>
          <p:nvPr/>
        </p:nvSpPr>
        <p:spPr>
          <a:xfrm>
            <a:off x="4328160" y="1463040"/>
            <a:ext cx="3505200" cy="3200400"/>
          </a:xfrm>
          <a:prstGeom prst="roundRect">
            <a:avLst>
              <a:gd name="adj" fmla="val 2286"/>
            </a:avLst>
          </a:prstGeom>
          <a:solidFill>
            <a:schemeClr val="bg2"/>
          </a:solidFill>
          <a:ln w="12700">
            <a:solidFill>
              <a:schemeClr val="bg2"/>
            </a:solidFill>
            <a:prstDash val="solid"/>
          </a:ln>
        </p:spPr>
      </p:sp>
      <p:sp>
        <p:nvSpPr>
          <p:cNvPr id="8" name="Text 6"/>
          <p:cNvSpPr txBox="1"/>
          <p:nvPr/>
        </p:nvSpPr>
        <p:spPr>
          <a:xfrm>
            <a:off x="4602480" y="1691640"/>
            <a:ext cx="91440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2</a:t>
            </a:r>
            <a:endParaRPr lang="en-US" sz="3600" dirty="0"/>
          </a:p>
        </p:txBody>
      </p:sp>
      <p:sp>
        <p:nvSpPr>
          <p:cNvPr id="9" name="Text 7"/>
          <p:cNvSpPr txBox="1"/>
          <p:nvPr/>
        </p:nvSpPr>
        <p:spPr>
          <a:xfrm>
            <a:off x="4602480" y="2423160"/>
            <a:ext cx="2956560" cy="45720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What I learned</a:t>
            </a:r>
            <a:endParaRPr lang="en-US" sz="2000" dirty="0"/>
          </a:p>
        </p:txBody>
      </p:sp>
      <p:sp>
        <p:nvSpPr>
          <p:cNvPr id="10" name="Text 8"/>
          <p:cNvSpPr txBox="1"/>
          <p:nvPr/>
        </p:nvSpPr>
        <p:spPr>
          <a:xfrm>
            <a:off x="4602480" y="2971800"/>
            <a:ext cx="2956560" cy="1554480"/>
          </a:xfrm>
          <a:prstGeom prst="rect">
            <a:avLst/>
          </a:prstGeom>
          <a:noFill/>
          <a:ln/>
        </p:spPr>
        <p:txBody>
          <a:bodyPr wrap="square" lIns="0" tIns="0" rIns="0" bIns="0" rtlCol="0" anchor="t"/>
          <a:lstStyle/>
          <a:p>
            <a:pPr indent="0" marL="0">
              <a:buNone/>
            </a:pPr>
            <a:r>
              <a:rPr lang="en-US" sz="1700" dirty="0">
                <a:solidFill>
                  <a:schemeClr val="tx1"/>
                </a:solidFill>
              </a:rPr>
              <a:t>The data has limited but measurable signal; XGBoost was best with ROC-AUC 0.596, only slightly above the simpler models</a:t>
            </a:r>
            <a:endParaRPr lang="en-US" sz="1700" dirty="0"/>
          </a:p>
        </p:txBody>
      </p:sp>
      <p:sp>
        <p:nvSpPr>
          <p:cNvPr id="11" name="Conclusion Practical value"/>
          <p:cNvSpPr/>
          <p:nvPr/>
        </p:nvSpPr>
        <p:spPr>
          <a:xfrm>
            <a:off x="8107680" y="1463040"/>
            <a:ext cx="3505200" cy="3200400"/>
          </a:xfrm>
          <a:prstGeom prst="roundRect">
            <a:avLst>
              <a:gd name="adj" fmla="val 2286"/>
            </a:avLst>
          </a:prstGeom>
          <a:solidFill>
            <a:schemeClr val="bg2"/>
          </a:solidFill>
          <a:ln w="12700">
            <a:solidFill>
              <a:schemeClr val="bg2"/>
            </a:solidFill>
            <a:prstDash val="solid"/>
          </a:ln>
        </p:spPr>
      </p:sp>
      <p:sp>
        <p:nvSpPr>
          <p:cNvPr id="12" name="Text 10"/>
          <p:cNvSpPr txBox="1"/>
          <p:nvPr/>
        </p:nvSpPr>
        <p:spPr>
          <a:xfrm>
            <a:off x="8382000" y="1691640"/>
            <a:ext cx="91440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3</a:t>
            </a:r>
            <a:endParaRPr lang="en-US" sz="3600" dirty="0"/>
          </a:p>
        </p:txBody>
      </p:sp>
      <p:sp>
        <p:nvSpPr>
          <p:cNvPr id="13" name="Text 11"/>
          <p:cNvSpPr txBox="1"/>
          <p:nvPr/>
        </p:nvSpPr>
        <p:spPr>
          <a:xfrm>
            <a:off x="8382000" y="2423160"/>
            <a:ext cx="2956560" cy="45720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Practical value</a:t>
            </a:r>
            <a:endParaRPr lang="en-US" sz="2000" dirty="0"/>
          </a:p>
        </p:txBody>
      </p:sp>
      <p:sp>
        <p:nvSpPr>
          <p:cNvPr id="14" name="Text 12"/>
          <p:cNvSpPr txBox="1"/>
          <p:nvPr/>
        </p:nvSpPr>
        <p:spPr>
          <a:xfrm>
            <a:off x="8382000" y="2971800"/>
            <a:ext cx="2956560" cy="1554480"/>
          </a:xfrm>
          <a:prstGeom prst="rect">
            <a:avLst/>
          </a:prstGeom>
          <a:noFill/>
          <a:ln/>
        </p:spPr>
        <p:txBody>
          <a:bodyPr wrap="square" lIns="0" tIns="0" rIns="0" bIns="0" rtlCol="0" anchor="t"/>
          <a:lstStyle/>
          <a:p>
            <a:pPr indent="0" marL="0">
              <a:buNone/>
            </a:pPr>
            <a:r>
              <a:rPr lang="en-US" sz="1700" dirty="0">
                <a:solidFill>
                  <a:schemeClr val="tx1"/>
                </a:solidFill>
              </a:rPr>
              <a:t>Risk ranking works: the highest-risk 10% of orders are returned at 63.05%, 1.33× the overall rate</a:t>
            </a:r>
            <a:endParaRPr lang="en-US" sz="1700" dirty="0"/>
          </a:p>
        </p:txBody>
      </p:sp>
      <p:sp>
        <p:nvSpPr>
          <p:cNvPr id="15" name="Text 13"/>
          <p:cNvSpPr txBox="1"/>
          <p:nvPr/>
        </p:nvSpPr>
        <p:spPr>
          <a:xfrm>
            <a:off x="548640" y="4983480"/>
            <a:ext cx="11064240" cy="457200"/>
          </a:xfrm>
          <a:prstGeom prst="rect">
            <a:avLst/>
          </a:prstGeom>
          <a:noFill/>
          <a:ln/>
        </p:spPr>
        <p:txBody>
          <a:bodyPr wrap="square" lIns="0" tIns="0" rIns="0" bIns="0" rtlCol="0" anchor="ctr"/>
          <a:lstStyle/>
          <a:p>
            <a:pPr indent="0" marL="0">
              <a:buNone/>
            </a:pPr>
            <a:r>
              <a:rPr lang="en-US" sz="1800" i="1" dirty="0">
                <a:solidFill>
                  <a:schemeClr val="accent1"/>
                </a:solidFill>
              </a:rPr>
              <a:t>Machine learning here works best as a tool to prioritise orders, not as a perfect return detector.</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References</a:t>
            </a:r>
            <a:endParaRPr lang="en-US" sz="3200" dirty="0"/>
          </a:p>
        </p:txBody>
      </p:sp>
      <p:sp>
        <p:nvSpPr>
          <p:cNvPr id="3" name="Text 1"/>
          <p:cNvSpPr txBox="1"/>
          <p:nvPr/>
        </p:nvSpPr>
        <p:spPr>
          <a:xfrm>
            <a:off x="548640" y="1325880"/>
            <a:ext cx="6949440" cy="4754880"/>
          </a:xfrm>
          <a:prstGeom prst="rect">
            <a:avLst/>
          </a:prstGeom>
          <a:noFill/>
          <a:ln/>
        </p:spPr>
        <p:txBody>
          <a:bodyPr wrap="square" lIns="0" tIns="0" rIns="0" bIns="0" rtlCol="0" anchor="t"/>
          <a:lstStyle/>
          <a:p>
            <a:pPr marL="228600" indent="-228600">
              <a:spcAft>
                <a:spcPts val="1000"/>
              </a:spcAft>
              <a:buSzPct val="100000"/>
              <a:buChar char="•"/>
            </a:pPr>
            <a:r>
              <a:rPr lang="en-US" sz="1400" dirty="0">
                <a:solidFill>
                  <a:schemeClr val="tx1"/>
                </a:solidFill>
              </a:rPr>
              <a:t>Dataset: hakdevelopment, “E-Commerce Dataset”, Kaggle — kaggle.com/datasets/hakdevelopment/e-commerce-dataset</a:t>
            </a:r>
            <a:endParaRPr lang="en-US" sz="1400" dirty="0"/>
          </a:p>
          <a:p>
            <a:pPr marL="228600" indent="-228600">
              <a:spcAft>
                <a:spcPts val="1000"/>
              </a:spcAft>
              <a:buSzPct val="100000"/>
              <a:buChar char="•"/>
            </a:pPr>
            <a:r>
              <a:rPr lang="en-US" sz="1400" dirty="0">
                <a:solidFill>
                  <a:schemeClr val="tx1"/>
                </a:solidFill>
              </a:rPr>
              <a:t>Pedregosa, F. et al. (2011). Scikit-learn: Machine Learning in Python. Journal of Machine Learning Research, 12, 2825–2830.</a:t>
            </a:r>
            <a:endParaRPr lang="en-US" sz="1400" dirty="0"/>
          </a:p>
          <a:p>
            <a:pPr marL="228600" indent="-228600">
              <a:spcAft>
                <a:spcPts val="1000"/>
              </a:spcAft>
              <a:buSzPct val="100000"/>
              <a:buChar char="•"/>
            </a:pPr>
            <a:r>
              <a:rPr lang="en-US" sz="1400" dirty="0">
                <a:solidFill>
                  <a:schemeClr val="tx1"/>
                </a:solidFill>
              </a:rPr>
              <a:t>Chen, T. &amp; Guestrin, C. (2016). XGBoost: A Scalable Tree Boosting System. Proceedings of ACM SIGKDD 2016, 785–794.</a:t>
            </a:r>
            <a:endParaRPr lang="en-US" sz="1400" dirty="0"/>
          </a:p>
          <a:p>
            <a:pPr marL="228600" indent="-228600">
              <a:spcAft>
                <a:spcPts val="1000"/>
              </a:spcAft>
              <a:buSzPct val="100000"/>
              <a:buChar char="•"/>
            </a:pPr>
            <a:r>
              <a:rPr lang="en-US" sz="1400" dirty="0">
                <a:solidFill>
                  <a:schemeClr val="tx1"/>
                </a:solidFill>
              </a:rPr>
              <a:t>Lundberg, S. M. &amp; Lee, S.-I. (2017). A Unified Approach to Interpreting Model Predictions. Advances in NeurIPS 30.</a:t>
            </a:r>
            <a:endParaRPr lang="en-US" sz="1400" dirty="0"/>
          </a:p>
          <a:p>
            <a:pPr marL="228600" indent="-228600">
              <a:spcAft>
                <a:spcPts val="1000"/>
              </a:spcAft>
              <a:buSzPct val="100000"/>
              <a:buChar char="•"/>
            </a:pPr>
            <a:r>
              <a:rPr lang="en-US" sz="1400" dirty="0">
                <a:solidFill>
                  <a:schemeClr val="tx1"/>
                </a:solidFill>
              </a:rPr>
              <a:t>Fayyad, U., Piatetsky-Shapiro, G. &amp; Smyth, P. (1996). From Data Mining to Knowledge Discovery in Databases. AI Magazine, 17(3), 37–54.</a:t>
            </a:r>
            <a:endParaRPr lang="en-US" sz="1400" dirty="0"/>
          </a:p>
        </p:txBody>
      </p:sp>
      <p:sp>
        <p:nvSpPr>
          <p:cNvPr id="4" name="Questions card"/>
          <p:cNvSpPr/>
          <p:nvPr/>
        </p:nvSpPr>
        <p:spPr>
          <a:xfrm>
            <a:off x="7863840" y="1325880"/>
            <a:ext cx="3749040" cy="4754880"/>
          </a:xfrm>
          <a:prstGeom prst="roundRect">
            <a:avLst>
              <a:gd name="adj" fmla="val 1951"/>
            </a:avLst>
          </a:prstGeom>
          <a:solidFill>
            <a:schemeClr val="bg2"/>
          </a:solidFill>
          <a:ln w="12700">
            <a:solidFill>
              <a:schemeClr val="bg2"/>
            </a:solidFill>
            <a:prstDash val="solid"/>
          </a:ln>
        </p:spPr>
      </p:sp>
      <p:sp>
        <p:nvSpPr>
          <p:cNvPr id="5" name="Text 3"/>
          <p:cNvSpPr txBox="1"/>
          <p:nvPr/>
        </p:nvSpPr>
        <p:spPr>
          <a:xfrm>
            <a:off x="8138160" y="2194560"/>
            <a:ext cx="3200400" cy="23774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Thank you</a:t>
            </a:r>
            <a:endParaRPr lang="en-US" sz="3000" dirty="0"/>
          </a:p>
          <a:p>
            <a:pPr algn="ctr" indent="0" marL="0">
              <a:buNone/>
            </a:pPr>
            <a:r>
              <a:rPr lang="en-US" sz="2400" dirty="0">
                <a:solidFill>
                  <a:schemeClr val="accent1"/>
                </a:solidFill>
                <a:latin typeface="Cambria" pitchFamily="34" charset="0"/>
                <a:ea typeface="Cambria" pitchFamily="34" charset="-122"/>
                <a:cs typeface="Cambria" pitchFamily="34" charset="-120"/>
              </a:rPr>
              <a:t>Questions?</a:t>
            </a:r>
            <a:endParaRPr lang="en-US" sz="3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Return Prediction">
  <a:themeElements>
    <a:clrScheme name="Return Prediction">
      <a:dk1>
        <a:srgbClr val="1F2328"/>
      </a:dk1>
      <a:lt1>
        <a:srgbClr val="FFFFFF"/>
      </a:lt1>
      <a:dk2>
        <a:srgbClr val="5B6470"/>
      </a:dk2>
      <a:lt2>
        <a:srgbClr val="F2F4F5"/>
      </a:lt2>
      <a:accent1>
        <a:srgbClr val="0F766E"/>
      </a:accent1>
      <a:accent2>
        <a:srgbClr val="B8C2CC"/>
      </a:accent2>
      <a:accent3>
        <a:srgbClr val="134E4A"/>
      </a:accent3>
      <a:accent4>
        <a:srgbClr val="99D6CF"/>
      </a:accent4>
      <a:accent5>
        <a:srgbClr val="6B7280"/>
      </a:accent5>
      <a:accent6>
        <a:srgbClr val="D1D5DB"/>
      </a:accent6>
      <a:hlink>
        <a:srgbClr val="0F766E"/>
      </a:hlink>
      <a:folHlink>
        <a:srgbClr val="134E4A"/>
      </a:folHlink>
    </a:clrScheme>
    <a:fontScheme name="Return Predict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E-Commerce Product Return Prediction Using Machine Learning</dc:title>
  <dc:subject>Predictive Analytics CA3</dc:subject>
  <dc:creator>Bhargav Sor</dc:creator>
  <cp:lastModifiedBy>Bhargav Sor</cp:lastModifiedBy>
  <cp:revision>1</cp:revision>
  <dcterms:created xsi:type="dcterms:W3CDTF">2026-10-10T17:09:56Z</dcterms:created>
  <dcterms:modified xsi:type="dcterms:W3CDTF">2026-10-10T17:09:56Z</dcterms:modified>
</cp:coreProperties>
</file>